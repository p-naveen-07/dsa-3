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image" Target="../media/image2.jpe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Optimal Binary Search Tree for Efficient Search Optimization</a:t>
            </a:r>
          </a:p>
        </p:txBody>
      </p:sp>
      <p:sp>
        <p:nvSpPr>
          <p:cNvPr id="3" name="Subtitle 2"/>
          <p:cNvSpPr>
            <a:spLocks noGrp="1"/>
          </p:cNvSpPr>
          <p:nvPr>
            <p:ph type="subTitle" idx="1"/>
          </p:nvPr>
        </p:nvSpPr>
        <p:spPr>
          <a:xfrm>
            <a:off x="4270160" y="3435084"/>
            <a:ext cx="4551284" cy="1810631"/>
          </a:xfrm>
        </p:spPr>
        <p:txBody>
          <a:bodyPr lIns="91440" tIns="45720" rIns="91440" bIns="45720" anchor="t"/>
          <a:lstStyle/>
          <a:p>
            <a:r>
              <a:rPr lang="en-US" sz="2200" dirty="0">
                <a:solidFill>
                  <a:srgbClr val="0070C0"/>
                </a:solidFill>
              </a:rPr>
              <a:t>Team Members</a:t>
            </a:r>
            <a:endParaRPr lang="en-US" sz="2200" dirty="0">
              <a:solidFill>
                <a:srgbClr val="0070C0"/>
              </a:solidFill>
              <a:ea typeface="Calibri"/>
              <a:cs typeface="Calibri"/>
            </a:endParaRPr>
          </a:p>
          <a:p>
            <a:r>
              <a:rPr lang="en-US" sz="2200">
                <a:solidFill>
                  <a:srgbClr val="0070C0"/>
                </a:solidFill>
                <a:ea typeface="Calibri"/>
                <a:cs typeface="Calibri"/>
              </a:rPr>
              <a:t>2520030518 - P. Naveen</a:t>
            </a:r>
            <a:endParaRPr lang="en-US" sz="2200" dirty="0">
              <a:solidFill>
                <a:srgbClr val="0070C0"/>
              </a:solidFill>
              <a:ea typeface="Calibri"/>
              <a:cs typeface="Calibri"/>
            </a:endParaRPr>
          </a:p>
          <a:p>
            <a:r>
              <a:rPr lang="en-US" sz="2200">
                <a:solidFill>
                  <a:srgbClr val="0070C0"/>
                </a:solidFill>
                <a:latin typeface="Calibri"/>
                <a:ea typeface="Calibri"/>
                <a:cs typeface="Calibri"/>
              </a:rPr>
              <a:t>2520030386 - T. </a:t>
            </a:r>
            <a:r>
              <a:rPr lang="en-US" sz="2200" dirty="0">
                <a:solidFill>
                  <a:srgbClr val="0070C0"/>
                </a:solidFill>
                <a:latin typeface="Calibri"/>
                <a:ea typeface="Calibri"/>
                <a:cs typeface="Calibri"/>
              </a:rPr>
              <a:t>Jashwanth</a:t>
            </a:r>
            <a:endParaRPr lang="en-US" sz="2200" dirty="0">
              <a:solidFill>
                <a:srgbClr val="0070C0"/>
              </a:solidFill>
              <a:effectLst/>
              <a:latin typeface="Calibri"/>
              <a:ea typeface="Calibri"/>
              <a:cs typeface="Calibri"/>
            </a:endParaRPr>
          </a:p>
          <a:p>
            <a:r>
              <a:rPr lang="en-US" sz="2200">
                <a:solidFill>
                  <a:srgbClr val="0070C0"/>
                </a:solidFill>
                <a:latin typeface="Calibri"/>
                <a:ea typeface="Calibri"/>
                <a:cs typeface="Calibri"/>
              </a:rPr>
              <a:t>2520030475 - E. Ashwith</a:t>
            </a:r>
            <a:endParaRPr lang="en-US" sz="2200" dirty="0">
              <a:solidFill>
                <a:srgbClr val="0070C0"/>
              </a:solidFill>
              <a:latin typeface="Calibri"/>
              <a:ea typeface="Calibri"/>
              <a:cs typeface="Calibri"/>
            </a:endParaRPr>
          </a:p>
          <a:p>
            <a:pPr marL="171450" algn="ctr">
              <a:lnSpc>
                <a:spcPct val="107000"/>
              </a:lnSpc>
              <a:spcAft>
                <a:spcPts val="800"/>
              </a:spcAft>
            </a:pPr>
            <a:r>
              <a:rPr lang="en-US" sz="1800" kern="0">
                <a:solidFill>
                  <a:srgbClr val="000000"/>
                </a:solidFill>
                <a:effectLst/>
                <a:latin typeface="Times New Roman"/>
                <a:ea typeface="Times New Roman" panose="02020603050405020304" pitchFamily="18" charset="0"/>
                <a:cs typeface="Gautami"/>
              </a:rPr>
              <a:t>Under the Esteemed Guidance of</a:t>
            </a:r>
            <a:endParaRPr lang="en-IN" sz="1800" kern="100">
              <a:effectLst/>
              <a:latin typeface="Times New Roman"/>
              <a:ea typeface="Calibri" panose="020F0502020204030204" pitchFamily="34" charset="0"/>
              <a:cs typeface="Gautami"/>
            </a:endParaRPr>
          </a:p>
          <a:p>
            <a:r>
              <a:rPr lang="en-US" sz="2000" b="1">
                <a:solidFill>
                  <a:srgbClr val="0070C0"/>
                </a:solidFill>
                <a:ea typeface="+mn-lt"/>
                <a:cs typeface="+mn-lt"/>
              </a:rPr>
              <a:t>Mrs. J. Yamini Devi</a:t>
            </a:r>
            <a:endParaRPr lang="en-US" sz="2000" b="1">
              <a:ea typeface="Calibri"/>
              <a:cs typeface="Calibri"/>
            </a:endParaRPr>
          </a:p>
          <a:p>
            <a:r>
              <a:rPr lang="en-US" sz="2000" b="1">
                <a:solidFill>
                  <a:srgbClr val="0070C0"/>
                </a:solidFill>
                <a:ea typeface="+mn-lt"/>
                <a:cs typeface="+mn-lt"/>
              </a:rPr>
              <a:t>Assistant Professor</a:t>
            </a:r>
            <a:endParaRPr lang="en-US" sz="2000" b="1">
              <a:ea typeface="Calibri"/>
              <a:cs typeface="Calibri"/>
            </a:endParaRPr>
          </a:p>
          <a:p>
            <a:endParaRPr lang="en-US" b="1" dirty="0">
              <a:solidFill>
                <a:srgbClr val="C00000"/>
              </a:solidFill>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72EA6C3E-D617-B9A4-FCB1-922ADC972A5B}"/>
              </a:ext>
            </a:extLst>
          </p:cNvPr>
          <p:cNvSpPr txBox="1"/>
          <p:nvPr/>
        </p:nvSpPr>
        <p:spPr>
          <a:xfrm>
            <a:off x="726302" y="1062816"/>
            <a:ext cx="10754055" cy="4524315"/>
          </a:xfrm>
          <a:prstGeom prst="rect">
            <a:avLst/>
          </a:prstGeom>
          <a:solidFill>
            <a:schemeClr val="bg1"/>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GB">
                <a:latin typeface="Times New Roman"/>
                <a:ea typeface="+mn-lt"/>
                <a:cs typeface="Times New Roman"/>
              </a:rPr>
              <a:t>The Optimal Binary Search Tree (OBST) project aims to develop an application that constructs an efficient Binary Search Tree using a given set of keys and their search frequencies. The primary objective is to minimize the average search cost by arranging the keys in an optimal order. Unlike a standard Binary Search Tree, an Optimal Binary Search Tree considers how frequently each key is accessed, ensuring that frequently searched keys are placed closer to the root, thereby reducing the overall search time.</a:t>
            </a:r>
            <a:endParaRPr lang="en-US">
              <a:latin typeface="Times New Roman"/>
              <a:cs typeface="Times New Roman"/>
            </a:endParaRPr>
          </a:p>
          <a:p>
            <a:endParaRPr lang="en-US" dirty="0">
              <a:latin typeface="Times New Roman"/>
              <a:cs typeface="Times New Roman"/>
            </a:endParaRPr>
          </a:p>
          <a:p>
            <a:r>
              <a:rPr lang="en-GB">
                <a:latin typeface="Times New Roman"/>
                <a:ea typeface="+mn-lt"/>
                <a:cs typeface="Times New Roman"/>
              </a:rPr>
              <a:t>The application accepts a list of sorted keys along with their corresponding search frequencies as input. It then applies the Dynamic Programming technique to determine the optimal tree structure that yields the minimum expected search cost. After computation, the system displays the resulting Optimal Binary Search Tree and calculates the expected search cost, allowing users to understand the efficiency gained through optimization.</a:t>
            </a:r>
            <a:endParaRPr lang="en-GB">
              <a:latin typeface="Times New Roman"/>
              <a:cs typeface="Times New Roman"/>
            </a:endParaRPr>
          </a:p>
          <a:p>
            <a:endParaRPr lang="en-GB" dirty="0">
              <a:latin typeface="Times New Roman"/>
              <a:cs typeface="Times New Roman"/>
            </a:endParaRPr>
          </a:p>
          <a:p>
            <a:r>
              <a:rPr lang="en-GB">
                <a:latin typeface="Times New Roman"/>
                <a:ea typeface="+mn-lt"/>
                <a:cs typeface="Times New Roman"/>
              </a:rPr>
              <a:t>This project demonstrates the practical application of interval dynamic programming in solving optimization problems and highlights the importance of algorithm design in improving search performance. It provides an educational platform for students to understand dynamic programming concepts, binary search trees, and cost optimization techniques. The system is suitable for academic learning and can serve as a foundation for advanced search optimization applications in databases, compilers, and information retrieval systems.</a:t>
            </a:r>
            <a:endParaRPr lang="en-GB">
              <a:latin typeface="Times New Roman"/>
              <a:cs typeface="Times New Roman"/>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7A57AE9D-591C-839E-B0E3-1610A4FC1670}"/>
              </a:ext>
            </a:extLst>
          </p:cNvPr>
          <p:cNvSpPr txBox="1"/>
          <p:nvPr/>
        </p:nvSpPr>
        <p:spPr>
          <a:xfrm>
            <a:off x="1677153" y="1039579"/>
            <a:ext cx="8860384" cy="4524315"/>
          </a:xfrm>
          <a:prstGeom prst="rect">
            <a:avLst/>
          </a:prstGeom>
          <a:solidFill>
            <a:schemeClr val="bg1"/>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342900" indent="-342900">
              <a:buFont typeface="Arial"/>
              <a:buChar char="•"/>
            </a:pPr>
            <a:r>
              <a:rPr lang="en-GB" sz="2400">
                <a:latin typeface="Times New Roman"/>
                <a:cs typeface="Times New Roman"/>
              </a:rPr>
              <a:t>The Problem: Standard BSTs are built based on insertion order or balancing, but they ignore how often a key is searched.​ </a:t>
            </a:r>
            <a:endParaRPr lang="en-US" sz="2400">
              <a:latin typeface="Times New Roman"/>
              <a:cs typeface="Times New Roman"/>
            </a:endParaRPr>
          </a:p>
          <a:p>
            <a:pPr marL="342900" indent="-342900">
              <a:buFont typeface="Arial"/>
              <a:buChar char="•"/>
            </a:pPr>
            <a:r>
              <a:rPr lang="en-GB" sz="2400">
                <a:latin typeface="Times New Roman"/>
                <a:cs typeface="Times New Roman"/>
              </a:rPr>
              <a:t>Example: If "Apple" is searched 1000 times and "Zebra" 1 time, a balanced BST might put "Zebra" near the root—making frequent searches slow!​ </a:t>
            </a:r>
            <a:endParaRPr lang="en-GB" sz="2400" dirty="0">
              <a:latin typeface="Times New Roman"/>
              <a:cs typeface="Times New Roman"/>
            </a:endParaRPr>
          </a:p>
          <a:p>
            <a:pPr marL="342900" indent="-342900">
              <a:buFont typeface="Arial"/>
              <a:buChar char="•"/>
            </a:pPr>
            <a:r>
              <a:rPr lang="en-GB" sz="2400">
                <a:latin typeface="Times New Roman"/>
                <a:cs typeface="Times New Roman"/>
              </a:rPr>
              <a:t>The OBST Solution: Uses search frequencies to reorder keys. High- frequency keys are moved closer to the root, drastically reducing average lookup time.</a:t>
            </a:r>
            <a:endParaRPr lang="en-GB" sz="2400" dirty="0">
              <a:latin typeface="Times New Roman"/>
              <a:cs typeface="Times New Roman"/>
            </a:endParaRPr>
          </a:p>
          <a:p>
            <a:pPr marL="342900" indent="-342900">
              <a:buFont typeface="Arial"/>
              <a:buChar char="•"/>
            </a:pPr>
            <a:r>
              <a:rPr lang="en-GB" sz="2400">
                <a:latin typeface="Times New Roman"/>
                <a:cs typeface="Times New Roman"/>
              </a:rPr>
              <a:t>​Core Concept: We don't need the shortest tree; we need the cheapest tree in terms of </a:t>
            </a:r>
            <a:r>
              <a:rPr lang="en-GB" sz="2400" dirty="0">
                <a:latin typeface="Times New Roman"/>
                <a:cs typeface="Times New Roman"/>
              </a:rPr>
              <a:t>weighted path length (Frequency × Depth). This is a classic optimization problem solved using Interval Dynamic Programming.​</a:t>
            </a:r>
            <a:endParaRPr lang="en-GB" sz="2400">
              <a:latin typeface="Times New Roman"/>
              <a:ea typeface="Calibri"/>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7" name="Table 6">
            <a:extLst>
              <a:ext uri="{FF2B5EF4-FFF2-40B4-BE49-F238E27FC236}">
                <a16:creationId xmlns:a16="http://schemas.microsoft.com/office/drawing/2014/main" id="{14CD6D0D-5430-BAD0-0256-84064A1B5D5E}"/>
              </a:ext>
            </a:extLst>
          </p:cNvPr>
          <p:cNvGraphicFramePr>
            <a:graphicFrameLocks noGrp="1"/>
          </p:cNvGraphicFramePr>
          <p:nvPr>
            <p:extLst>
              <p:ext uri="{D42A27DB-BD31-4B8C-83A1-F6EECF244321}">
                <p14:modId xmlns:p14="http://schemas.microsoft.com/office/powerpoint/2010/main" val="933568859"/>
              </p:ext>
            </p:extLst>
          </p:nvPr>
        </p:nvGraphicFramePr>
        <p:xfrm>
          <a:off x="2212041" y="911547"/>
          <a:ext cx="7784172" cy="5647423"/>
        </p:xfrm>
        <a:graphic>
          <a:graphicData uri="http://schemas.openxmlformats.org/drawingml/2006/table">
            <a:tbl>
              <a:tblPr bandRow="1">
                <a:tableStyleId>{5C22544A-7EE6-4342-B048-85BDC9FD1C3A}</a:tableStyleId>
              </a:tblPr>
              <a:tblGrid>
                <a:gridCol w="2594724">
                  <a:extLst>
                    <a:ext uri="{9D8B030D-6E8A-4147-A177-3AD203B41FA5}">
                      <a16:colId xmlns:a16="http://schemas.microsoft.com/office/drawing/2014/main" val="3078620776"/>
                    </a:ext>
                  </a:extLst>
                </a:gridCol>
                <a:gridCol w="2594724">
                  <a:extLst>
                    <a:ext uri="{9D8B030D-6E8A-4147-A177-3AD203B41FA5}">
                      <a16:colId xmlns:a16="http://schemas.microsoft.com/office/drawing/2014/main" val="503011574"/>
                    </a:ext>
                  </a:extLst>
                </a:gridCol>
                <a:gridCol w="2594724">
                  <a:extLst>
                    <a:ext uri="{9D8B030D-6E8A-4147-A177-3AD203B41FA5}">
                      <a16:colId xmlns:a16="http://schemas.microsoft.com/office/drawing/2014/main" val="1457900357"/>
                    </a:ext>
                  </a:extLst>
                </a:gridCol>
              </a:tblGrid>
              <a:tr h="485799">
                <a:tc>
                  <a:txBody>
                    <a:bodyPr/>
                    <a:lstStyle/>
                    <a:p>
                      <a:pPr algn="l">
                        <a:lnSpc>
                          <a:spcPct val="138889"/>
                        </a:lnSpc>
                        <a:buNone/>
                      </a:pPr>
                      <a:r>
                        <a:rPr lang="en-GB" sz="1200" b="0" i="0">
                          <a:solidFill>
                            <a:schemeClr val="tx1"/>
                          </a:solidFill>
                          <a:effectLst/>
                          <a:latin typeface="Times New Roman"/>
                          <a:cs typeface="Times New Roman"/>
                        </a:rPr>
                        <a:t>Author / Work</a:t>
                      </a:r>
                      <a:endParaRPr lang="en-GB" sz="12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200" b="0" i="0">
                          <a:solidFill>
                            <a:schemeClr val="tx1"/>
                          </a:solidFill>
                          <a:effectLst/>
                          <a:latin typeface="Times New Roman"/>
                          <a:cs typeface="Times New Roman"/>
                        </a:rPr>
                        <a:t>Key Contribution</a:t>
                      </a:r>
                      <a:endParaRPr lang="en-GB" sz="1200" b="0" i="0" dirty="0">
                        <a:solidFill>
                          <a:schemeClr val="tx1"/>
                        </a:solidFill>
                        <a:effectLst/>
                        <a:latin typeface="Times New Roman"/>
                        <a:cs typeface="Times New Roman"/>
                      </a:endParaRPr>
                    </a:p>
                  </a:txBody>
                  <a:tcPr marL="152400" marR="152400" marT="95250" marB="95250" anchor="ctr">
                    <a:lnL>
                      <a:noFill/>
                    </a:lnL>
                    <a:lnR>
                      <a:noFill/>
                    </a:lnR>
                    <a:lnT>
                      <a:noFill/>
                    </a:lnT>
                    <a:lnB>
                      <a:noFill/>
                    </a:lnB>
                    <a:solidFill>
                      <a:schemeClr val="bg1"/>
                    </a:solidFill>
                  </a:tcPr>
                </a:tc>
                <a:tc>
                  <a:txBody>
                    <a:bodyPr/>
                    <a:lstStyle/>
                    <a:p>
                      <a:pPr algn="l">
                        <a:lnSpc>
                          <a:spcPct val="138889"/>
                        </a:lnSpc>
                        <a:buNone/>
                      </a:pPr>
                      <a:r>
                        <a:rPr lang="en-GB" sz="1200" b="0" i="0">
                          <a:solidFill>
                            <a:schemeClr val="tx1"/>
                          </a:solidFill>
                          <a:effectLst/>
                          <a:latin typeface="Times New Roman"/>
                          <a:cs typeface="Times New Roman"/>
                        </a:rPr>
                        <a:t>Relevance to Our Project</a:t>
                      </a:r>
                      <a:endParaRPr lang="en-GB" sz="1200" b="0" i="0" dirty="0">
                        <a:solidFill>
                          <a:schemeClr val="tx1"/>
                        </a:solidFill>
                        <a:effectLst/>
                        <a:latin typeface="Times New Roman"/>
                        <a:cs typeface="Times New Roman"/>
                      </a:endParaRPr>
                    </a:p>
                  </a:txBody>
                  <a:tcPr marL="152400" marR="152400" marT="95250" marB="95250" anchor="ctr">
                    <a:lnL>
                      <a:noFill/>
                    </a:lnL>
                    <a:lnR>
                      <a:noFill/>
                    </a:lnR>
                    <a:lnT>
                      <a:noFill/>
                    </a:lnT>
                    <a:lnB>
                      <a:noFill/>
                    </a:lnB>
                    <a:solidFill>
                      <a:schemeClr val="bg1"/>
                    </a:solidFill>
                  </a:tcPr>
                </a:tc>
                <a:extLst>
                  <a:ext uri="{0D108BD9-81ED-4DB2-BD59-A6C34878D82A}">
                    <a16:rowId xmlns:a16="http://schemas.microsoft.com/office/drawing/2014/main" val="941356422"/>
                  </a:ext>
                </a:extLst>
              </a:tr>
              <a:tr h="1305587">
                <a:tc>
                  <a:txBody>
                    <a:bodyPr/>
                    <a:lstStyle/>
                    <a:p>
                      <a:pPr algn="l">
                        <a:lnSpc>
                          <a:spcPct val="138889"/>
                        </a:lnSpc>
                        <a:buNone/>
                      </a:pPr>
                      <a:r>
                        <a:rPr lang="en-GB" sz="1200" b="1" i="0">
                          <a:solidFill>
                            <a:schemeClr val="tx1"/>
                          </a:solidFill>
                          <a:effectLst/>
                          <a:latin typeface="Times New Roman"/>
                          <a:cs typeface="Times New Roman"/>
                        </a:rPr>
                        <a:t>Knuth, D.E. (1971)</a:t>
                      </a:r>
                      <a:endParaRPr lang="en-GB" sz="12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200" b="0" i="0">
                          <a:solidFill>
                            <a:schemeClr val="tx1"/>
                          </a:solidFill>
                          <a:effectLst/>
                          <a:latin typeface="Times New Roman"/>
                          <a:cs typeface="Times New Roman"/>
                        </a:rPr>
                        <a:t>Introduced the dynamic programming algorithm for OBST and proved optimal substructure.</a:t>
                      </a:r>
                      <a:endParaRPr lang="en-GB" sz="1200" b="0" i="0" dirty="0">
                        <a:solidFill>
                          <a:schemeClr val="tx1"/>
                        </a:solidFill>
                        <a:effectLst/>
                        <a:latin typeface="Times New Roman"/>
                        <a:cs typeface="Times New Roman"/>
                      </a:endParaRPr>
                    </a:p>
                  </a:txBody>
                  <a:tcPr marL="152400" marR="152400" marT="95250" marB="95250" anchor="ctr">
                    <a:lnL>
                      <a:noFill/>
                    </a:lnL>
                    <a:lnR>
                      <a:noFill/>
                    </a:lnR>
                    <a:lnT>
                      <a:noFill/>
                    </a:lnT>
                    <a:lnB>
                      <a:noFill/>
                    </a:lnB>
                    <a:solidFill>
                      <a:schemeClr val="bg1"/>
                    </a:solidFill>
                  </a:tcPr>
                </a:tc>
                <a:tc>
                  <a:txBody>
                    <a:bodyPr/>
                    <a:lstStyle/>
                    <a:p>
                      <a:pPr algn="l">
                        <a:lnSpc>
                          <a:spcPct val="138889"/>
                        </a:lnSpc>
                        <a:buNone/>
                      </a:pPr>
                      <a:r>
                        <a:rPr lang="en-GB" sz="1200" b="0" i="0">
                          <a:solidFill>
                            <a:schemeClr val="tx1"/>
                          </a:solidFill>
                          <a:effectLst/>
                          <a:latin typeface="Times New Roman"/>
                          <a:cs typeface="Times New Roman"/>
                        </a:rPr>
                        <a:t>Foundation of our recurrence relation and root table logic.</a:t>
                      </a:r>
                      <a:endParaRPr lang="en-GB" sz="1200" b="0" i="0" dirty="0">
                        <a:solidFill>
                          <a:schemeClr val="tx1"/>
                        </a:solidFill>
                        <a:effectLst/>
                        <a:latin typeface="Times New Roman"/>
                        <a:cs typeface="Times New Roman"/>
                      </a:endParaRPr>
                    </a:p>
                  </a:txBody>
                  <a:tcPr marL="152400" marT="95250" marB="95250" anchor="ctr">
                    <a:lnL>
                      <a:noFill/>
                    </a:lnL>
                    <a:lnR>
                      <a:noFill/>
                    </a:lnR>
                    <a:lnT>
                      <a:noFill/>
                    </a:lnT>
                    <a:lnB>
                      <a:noFill/>
                    </a:lnB>
                    <a:solidFill>
                      <a:schemeClr val="bg1"/>
                    </a:solidFill>
                  </a:tcPr>
                </a:tc>
                <a:extLst>
                  <a:ext uri="{0D108BD9-81ED-4DB2-BD59-A6C34878D82A}">
                    <a16:rowId xmlns:a16="http://schemas.microsoft.com/office/drawing/2014/main" val="371972831"/>
                  </a:ext>
                </a:extLst>
              </a:tr>
              <a:tr h="1032325">
                <a:tc>
                  <a:txBody>
                    <a:bodyPr/>
                    <a:lstStyle/>
                    <a:p>
                      <a:pPr algn="l">
                        <a:lnSpc>
                          <a:spcPct val="138889"/>
                        </a:lnSpc>
                        <a:buNone/>
                      </a:pPr>
                      <a:r>
                        <a:rPr lang="en-GB" sz="1200" b="1" i="0">
                          <a:solidFill>
                            <a:schemeClr val="tx1"/>
                          </a:solidFill>
                          <a:effectLst/>
                          <a:latin typeface="Times New Roman"/>
                          <a:cs typeface="Times New Roman"/>
                        </a:rPr>
                        <a:t>Cormen et al. (CLRS)</a:t>
                      </a:r>
                      <a:endParaRPr lang="en-GB" sz="12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200" b="0" i="0">
                          <a:solidFill>
                            <a:schemeClr val="tx1"/>
                          </a:solidFill>
                          <a:effectLst/>
                          <a:latin typeface="Times New Roman"/>
                          <a:cs typeface="Times New Roman"/>
                        </a:rPr>
                        <a:t>Formalized OBST in standard textbooks; detailed recurrence and pseudo-code.</a:t>
                      </a:r>
                      <a:endParaRPr lang="en-GB" sz="1200" b="0" i="0" dirty="0">
                        <a:solidFill>
                          <a:schemeClr val="tx1"/>
                        </a:solidFill>
                        <a:effectLst/>
                        <a:latin typeface="Times New Roman"/>
                        <a:cs typeface="Times New Roman"/>
                      </a:endParaRPr>
                    </a:p>
                  </a:txBody>
                  <a:tcPr marL="152400" marR="152400" marT="95250" marB="95250" anchor="ctr">
                    <a:lnL>
                      <a:noFill/>
                    </a:lnL>
                    <a:lnR>
                      <a:noFill/>
                    </a:lnR>
                    <a:lnT>
                      <a:noFill/>
                    </a:lnT>
                    <a:lnB>
                      <a:noFill/>
                    </a:lnB>
                    <a:solidFill>
                      <a:schemeClr val="bg1"/>
                    </a:solidFill>
                  </a:tcPr>
                </a:tc>
                <a:tc>
                  <a:txBody>
                    <a:bodyPr/>
                    <a:lstStyle/>
                    <a:p>
                      <a:pPr algn="l">
                        <a:lnSpc>
                          <a:spcPct val="138889"/>
                        </a:lnSpc>
                        <a:buNone/>
                      </a:pPr>
                      <a:r>
                        <a:rPr lang="en-GB" sz="1200" b="0" i="0" dirty="0">
                          <a:solidFill>
                            <a:schemeClr val="tx1"/>
                          </a:solidFill>
                          <a:effectLst/>
                          <a:latin typeface="Times New Roman"/>
                          <a:cs typeface="Times New Roman"/>
                        </a:rPr>
                        <a:t>Used for defining cost tables C[</a:t>
                      </a:r>
                      <a:r>
                        <a:rPr lang="en-GB" sz="1200" b="0" i="0" dirty="0" err="1">
                          <a:solidFill>
                            <a:schemeClr val="tx1"/>
                          </a:solidFill>
                          <a:effectLst/>
                          <a:latin typeface="Times New Roman"/>
                          <a:cs typeface="Times New Roman"/>
                        </a:rPr>
                        <a:t>i</a:t>
                      </a:r>
                      <a:r>
                        <a:rPr lang="en-GB" sz="1200" b="0" i="0" dirty="0">
                          <a:solidFill>
                            <a:schemeClr val="tx1"/>
                          </a:solidFill>
                          <a:effectLst/>
                          <a:latin typeface="Times New Roman"/>
                          <a:cs typeface="Times New Roman"/>
                        </a:rPr>
                        <a:t>][j] and summing frequencies.</a:t>
                      </a:r>
                    </a:p>
                  </a:txBody>
                  <a:tcPr marL="152400" marT="95250" marB="95250" anchor="ctr">
                    <a:lnL>
                      <a:noFill/>
                    </a:lnL>
                    <a:lnR>
                      <a:noFill/>
                    </a:lnR>
                    <a:lnT>
                      <a:noFill/>
                    </a:lnT>
                    <a:lnB>
                      <a:noFill/>
                    </a:lnB>
                    <a:solidFill>
                      <a:schemeClr val="bg1"/>
                    </a:solidFill>
                  </a:tcPr>
                </a:tc>
                <a:extLst>
                  <a:ext uri="{0D108BD9-81ED-4DB2-BD59-A6C34878D82A}">
                    <a16:rowId xmlns:a16="http://schemas.microsoft.com/office/drawing/2014/main" val="394204583"/>
                  </a:ext>
                </a:extLst>
              </a:tr>
              <a:tr h="759062">
                <a:tc>
                  <a:txBody>
                    <a:bodyPr/>
                    <a:lstStyle/>
                    <a:p>
                      <a:pPr algn="l">
                        <a:lnSpc>
                          <a:spcPct val="138889"/>
                        </a:lnSpc>
                        <a:buNone/>
                      </a:pPr>
                      <a:r>
                        <a:rPr lang="en-GB" sz="1200" b="1" i="0">
                          <a:solidFill>
                            <a:schemeClr val="tx1"/>
                          </a:solidFill>
                          <a:effectLst/>
                          <a:latin typeface="Times New Roman"/>
                          <a:cs typeface="Times New Roman"/>
                        </a:rPr>
                        <a:t>Gilbert &amp; Moore (1959)</a:t>
                      </a:r>
                      <a:endParaRPr lang="en-GB" sz="12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200" b="0" i="0">
                          <a:solidFill>
                            <a:schemeClr val="tx1"/>
                          </a:solidFill>
                          <a:effectLst/>
                          <a:latin typeface="Times New Roman"/>
                          <a:cs typeface="Times New Roman"/>
                        </a:rPr>
                        <a:t>Early work on alphabetic binary trees (precursor to OBST).</a:t>
                      </a:r>
                      <a:endParaRPr lang="en-GB" sz="1200" b="0" i="0" dirty="0">
                        <a:solidFill>
                          <a:schemeClr val="tx1"/>
                        </a:solidFill>
                        <a:effectLst/>
                        <a:latin typeface="Times New Roman"/>
                        <a:cs typeface="Times New Roman"/>
                      </a:endParaRPr>
                    </a:p>
                  </a:txBody>
                  <a:tcPr marL="152400" marR="152400" marT="95250" marB="95250" anchor="ctr">
                    <a:lnL>
                      <a:noFill/>
                    </a:lnL>
                    <a:lnR>
                      <a:noFill/>
                    </a:lnR>
                    <a:lnT>
                      <a:noFill/>
                    </a:lnT>
                    <a:lnB>
                      <a:noFill/>
                    </a:lnB>
                    <a:solidFill>
                      <a:schemeClr val="bg1"/>
                    </a:solidFill>
                  </a:tcPr>
                </a:tc>
                <a:tc>
                  <a:txBody>
                    <a:bodyPr/>
                    <a:lstStyle/>
                    <a:p>
                      <a:pPr algn="l">
                        <a:lnSpc>
                          <a:spcPct val="138889"/>
                        </a:lnSpc>
                        <a:buNone/>
                      </a:pPr>
                      <a:r>
                        <a:rPr lang="en-GB" sz="1200" b="0" i="0">
                          <a:solidFill>
                            <a:schemeClr val="tx1"/>
                          </a:solidFill>
                          <a:effectLst/>
                          <a:latin typeface="Times New Roman"/>
                          <a:cs typeface="Times New Roman"/>
                        </a:rPr>
                        <a:t>Historical basis for ordered key search optimization.</a:t>
                      </a:r>
                      <a:endParaRPr lang="en-GB" sz="1200" b="0" i="0" dirty="0">
                        <a:solidFill>
                          <a:schemeClr val="tx1"/>
                        </a:solidFill>
                        <a:effectLst/>
                        <a:latin typeface="Times New Roman"/>
                        <a:cs typeface="Times New Roman"/>
                      </a:endParaRPr>
                    </a:p>
                  </a:txBody>
                  <a:tcPr marL="152400" marT="95250" marB="95250" anchor="ctr">
                    <a:lnL>
                      <a:noFill/>
                    </a:lnL>
                    <a:lnR>
                      <a:noFill/>
                    </a:lnR>
                    <a:lnT>
                      <a:noFill/>
                    </a:lnT>
                    <a:lnB>
                      <a:noFill/>
                    </a:lnB>
                    <a:solidFill>
                      <a:schemeClr val="bg1"/>
                    </a:solidFill>
                  </a:tcPr>
                </a:tc>
                <a:extLst>
                  <a:ext uri="{0D108BD9-81ED-4DB2-BD59-A6C34878D82A}">
                    <a16:rowId xmlns:a16="http://schemas.microsoft.com/office/drawing/2014/main" val="3349679303"/>
                  </a:ext>
                </a:extLst>
              </a:tr>
              <a:tr h="1032325">
                <a:tc>
                  <a:txBody>
                    <a:bodyPr/>
                    <a:lstStyle/>
                    <a:p>
                      <a:pPr algn="l">
                        <a:lnSpc>
                          <a:spcPct val="138889"/>
                        </a:lnSpc>
                        <a:buNone/>
                      </a:pPr>
                      <a:r>
                        <a:rPr lang="en-GB" sz="1200" b="1" i="0">
                          <a:solidFill>
                            <a:schemeClr val="tx1"/>
                          </a:solidFill>
                          <a:effectLst/>
                          <a:latin typeface="Times New Roman"/>
                          <a:cs typeface="Times New Roman"/>
                        </a:rPr>
                        <a:t>AVL / Red-Black Trees</a:t>
                      </a:r>
                      <a:endParaRPr lang="en-GB" sz="12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200" b="0" i="0">
                          <a:solidFill>
                            <a:schemeClr val="tx1"/>
                          </a:solidFill>
                          <a:effectLst/>
                          <a:latin typeface="Times New Roman"/>
                          <a:cs typeface="Times New Roman"/>
                        </a:rPr>
                        <a:t>Standard self-balancing trees for guaranteed O(log n) height.</a:t>
                      </a:r>
                      <a:endParaRPr lang="en-GB" sz="1200" b="0" i="0" dirty="0">
                        <a:solidFill>
                          <a:schemeClr val="tx1"/>
                        </a:solidFill>
                        <a:effectLst/>
                        <a:latin typeface="Times New Roman"/>
                        <a:cs typeface="Times New Roman"/>
                      </a:endParaRPr>
                    </a:p>
                  </a:txBody>
                  <a:tcPr marL="152400" marR="152400" marT="95250" marB="95250" anchor="ctr">
                    <a:lnL>
                      <a:noFill/>
                    </a:lnL>
                    <a:lnR>
                      <a:noFill/>
                    </a:lnR>
                    <a:lnT>
                      <a:noFill/>
                    </a:lnT>
                    <a:lnB>
                      <a:noFill/>
                    </a:lnB>
                    <a:solidFill>
                      <a:schemeClr val="bg1"/>
                    </a:solidFill>
                  </a:tcPr>
                </a:tc>
                <a:tc>
                  <a:txBody>
                    <a:bodyPr/>
                    <a:lstStyle/>
                    <a:p>
                      <a:pPr algn="l">
                        <a:lnSpc>
                          <a:spcPct val="138889"/>
                        </a:lnSpc>
                        <a:buNone/>
                      </a:pPr>
                      <a:r>
                        <a:rPr lang="en-GB" sz="1200" b="0" i="0">
                          <a:solidFill>
                            <a:schemeClr val="tx1"/>
                          </a:solidFill>
                          <a:effectLst/>
                          <a:latin typeface="Times New Roman"/>
                          <a:cs typeface="Times New Roman"/>
                        </a:rPr>
                        <a:t>Compared against—proving that balancing height is not always optimal when frequencies vary.</a:t>
                      </a:r>
                      <a:endParaRPr lang="en-GB" sz="1200" b="0" i="0" dirty="0">
                        <a:solidFill>
                          <a:schemeClr val="tx1"/>
                        </a:solidFill>
                        <a:effectLst/>
                        <a:latin typeface="Times New Roman"/>
                        <a:cs typeface="Times New Roman"/>
                      </a:endParaRPr>
                    </a:p>
                  </a:txBody>
                  <a:tcPr marL="152400" marT="95250" marB="95250" anchor="ctr">
                    <a:lnL>
                      <a:noFill/>
                    </a:lnL>
                    <a:lnR>
                      <a:noFill/>
                    </a:lnR>
                    <a:lnT>
                      <a:noFill/>
                    </a:lnT>
                    <a:lnB>
                      <a:noFill/>
                    </a:lnB>
                    <a:solidFill>
                      <a:schemeClr val="bg1"/>
                    </a:solidFill>
                  </a:tcPr>
                </a:tc>
                <a:extLst>
                  <a:ext uri="{0D108BD9-81ED-4DB2-BD59-A6C34878D82A}">
                    <a16:rowId xmlns:a16="http://schemas.microsoft.com/office/drawing/2014/main" val="3040221579"/>
                  </a:ext>
                </a:extLst>
              </a:tr>
              <a:tr h="1032325">
                <a:tc>
                  <a:txBody>
                    <a:bodyPr/>
                    <a:lstStyle/>
                    <a:p>
                      <a:pPr algn="l">
                        <a:lnSpc>
                          <a:spcPct val="138889"/>
                        </a:lnSpc>
                        <a:buNone/>
                      </a:pPr>
                      <a:r>
                        <a:rPr lang="en-GB" sz="1200" b="1" i="0">
                          <a:solidFill>
                            <a:schemeClr val="tx1"/>
                          </a:solidFill>
                          <a:effectLst/>
                          <a:latin typeface="Times New Roman"/>
                          <a:cs typeface="Times New Roman"/>
                        </a:rPr>
                        <a:t>Splay Trees</a:t>
                      </a:r>
                      <a:endParaRPr lang="en-GB" sz="12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200" b="0" i="0">
                          <a:solidFill>
                            <a:schemeClr val="tx1"/>
                          </a:solidFill>
                          <a:effectLst/>
                          <a:latin typeface="Times New Roman"/>
                          <a:cs typeface="Times New Roman"/>
                        </a:rPr>
                        <a:t>Self-adjusting trees that move accessed nodes to the root.</a:t>
                      </a:r>
                      <a:endParaRPr lang="en-GB" sz="1200" b="0" i="0" dirty="0">
                        <a:solidFill>
                          <a:schemeClr val="tx1"/>
                        </a:solidFill>
                        <a:effectLst/>
                        <a:latin typeface="Times New Roman"/>
                        <a:cs typeface="Times New Roman"/>
                      </a:endParaRPr>
                    </a:p>
                  </a:txBody>
                  <a:tcPr marL="152400" marR="152400" marT="95250" marB="95250" anchor="ctr">
                    <a:lnL>
                      <a:noFill/>
                    </a:lnL>
                    <a:lnR>
                      <a:noFill/>
                    </a:lnR>
                    <a:lnT>
                      <a:noFill/>
                    </a:lnT>
                    <a:lnB>
                      <a:noFill/>
                    </a:lnB>
                    <a:solidFill>
                      <a:schemeClr val="bg1"/>
                    </a:solidFill>
                  </a:tcPr>
                </a:tc>
                <a:tc>
                  <a:txBody>
                    <a:bodyPr/>
                    <a:lstStyle/>
                    <a:p>
                      <a:pPr algn="l">
                        <a:lnSpc>
                          <a:spcPct val="138889"/>
                        </a:lnSpc>
                        <a:buNone/>
                      </a:pPr>
                      <a:r>
                        <a:rPr lang="en-GB" sz="1200" b="0" i="0">
                          <a:solidFill>
                            <a:schemeClr val="tx1"/>
                          </a:solidFill>
                          <a:effectLst/>
                          <a:latin typeface="Times New Roman"/>
                          <a:cs typeface="Times New Roman"/>
                        </a:rPr>
                        <a:t>Modern alternative; we contrast static OBST (built once) with dynamic self-adjustment.</a:t>
                      </a:r>
                      <a:endParaRPr lang="en-GB" sz="1200" b="0" i="0" dirty="0">
                        <a:solidFill>
                          <a:schemeClr val="tx1"/>
                        </a:solidFill>
                        <a:effectLst/>
                        <a:latin typeface="Times New Roman"/>
                        <a:cs typeface="Times New Roman"/>
                      </a:endParaRPr>
                    </a:p>
                  </a:txBody>
                  <a:tcPr marL="152400" marT="95250" marB="95250" anchor="ctr">
                    <a:lnL>
                      <a:noFill/>
                    </a:lnL>
                    <a:lnR>
                      <a:noFill/>
                    </a:lnR>
                    <a:lnT>
                      <a:noFill/>
                    </a:lnT>
                    <a:lnB>
                      <a:noFill/>
                    </a:lnB>
                    <a:solidFill>
                      <a:schemeClr val="bg1"/>
                    </a:solidFill>
                  </a:tcPr>
                </a:tc>
                <a:extLst>
                  <a:ext uri="{0D108BD9-81ED-4DB2-BD59-A6C34878D82A}">
                    <a16:rowId xmlns:a16="http://schemas.microsoft.com/office/drawing/2014/main" val="261354261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0E6B90EE-6375-EEF3-770A-3CA82305BE1C}"/>
              </a:ext>
            </a:extLst>
          </p:cNvPr>
          <p:cNvSpPr txBox="1"/>
          <p:nvPr/>
        </p:nvSpPr>
        <p:spPr>
          <a:xfrm>
            <a:off x="683560" y="1064560"/>
            <a:ext cx="11351557" cy="5262979"/>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Times New Roman"/>
              </a:rPr>
              <a:t>Problem Statement: </a:t>
            </a:r>
            <a:r>
              <a:rPr lang="en-US" sz="2400" dirty="0">
                <a:latin typeface="Times New Roman"/>
                <a:cs typeface="Times New Roman"/>
              </a:rPr>
              <a:t>Given a set of n distinct sorted keys K = {k1, k2, ... , </a:t>
            </a:r>
            <a:r>
              <a:rPr lang="en-US" sz="2400" dirty="0" err="1">
                <a:latin typeface="Times New Roman"/>
                <a:cs typeface="Times New Roman"/>
              </a:rPr>
              <a:t>kn</a:t>
            </a:r>
            <a:r>
              <a:rPr lang="en-US" sz="2400" dirty="0">
                <a:latin typeface="Times New Roman"/>
                <a:cs typeface="Times New Roman"/>
              </a:rPr>
              <a:t>} with associated search frequencies F = {f1, f2, ... , f.} , construct a Binary Search Tree that minimizes the Expected Search Cost (Total Cost = E fi x (depth(ki) + 1)). </a:t>
            </a:r>
          </a:p>
          <a:p>
            <a:endParaRPr lang="en-US" sz="2400" dirty="0">
              <a:latin typeface="Times New Roman"/>
              <a:cs typeface="Times New Roman"/>
            </a:endParaRPr>
          </a:p>
          <a:p>
            <a:r>
              <a:rPr lang="en-US" sz="2400" b="1">
                <a:latin typeface="Times New Roman"/>
                <a:cs typeface="Times New Roman"/>
              </a:rPr>
              <a:t>Objectives:</a:t>
            </a:r>
            <a:endParaRPr lang="en-US" sz="2400">
              <a:latin typeface="Times New Roman"/>
              <a:ea typeface="Calibri"/>
              <a:cs typeface="Times New Roman"/>
            </a:endParaRPr>
          </a:p>
          <a:p>
            <a:r>
              <a:rPr lang="en-US" sz="2400" dirty="0">
                <a:latin typeface="Times New Roman"/>
                <a:cs typeface="Times New Roman"/>
              </a:rPr>
              <a:t>1. Input Handling: Accept sorted keys and their corresponding </a:t>
            </a:r>
            <a:r>
              <a:rPr lang="en-US" sz="2400">
                <a:latin typeface="Times New Roman"/>
                <a:cs typeface="Times New Roman"/>
              </a:rPr>
              <a:t>integer frequencies.</a:t>
            </a:r>
            <a:endParaRPr lang="en-US" sz="2400">
              <a:latin typeface="Times New Roman"/>
              <a:ea typeface="Calibri"/>
              <a:cs typeface="Times New Roman"/>
            </a:endParaRPr>
          </a:p>
          <a:p>
            <a:r>
              <a:rPr lang="en-US" sz="2400" dirty="0">
                <a:latin typeface="Times New Roman"/>
                <a:cs typeface="Times New Roman"/>
              </a:rPr>
              <a:t>2. DP Implementation: Apply interval DP to compute the minimal </a:t>
            </a:r>
            <a:r>
              <a:rPr lang="en-US" sz="2400">
                <a:latin typeface="Times New Roman"/>
                <a:cs typeface="Times New Roman"/>
              </a:rPr>
              <a:t>cost for every sub-interval of keys.</a:t>
            </a:r>
            <a:endParaRPr lang="en-US" sz="2400">
              <a:latin typeface="Times New Roman"/>
              <a:ea typeface="Calibri"/>
              <a:cs typeface="Times New Roman"/>
            </a:endParaRPr>
          </a:p>
          <a:p>
            <a:r>
              <a:rPr lang="en-US" sz="2400" dirty="0">
                <a:latin typeface="Times New Roman"/>
                <a:cs typeface="Times New Roman"/>
              </a:rPr>
              <a:t>3. Root Table Construction: Store the optimal root index for every </a:t>
            </a:r>
            <a:r>
              <a:rPr lang="en-US" sz="2400">
                <a:latin typeface="Times New Roman"/>
                <a:cs typeface="Times New Roman"/>
              </a:rPr>
              <a:t>interval to reconstruct the tree.</a:t>
            </a:r>
            <a:endParaRPr lang="en-US" sz="2400">
              <a:latin typeface="Times New Roman"/>
              <a:ea typeface="Calibri"/>
              <a:cs typeface="Times New Roman"/>
            </a:endParaRPr>
          </a:p>
          <a:p>
            <a:r>
              <a:rPr lang="en-US" sz="2400">
                <a:latin typeface="Times New Roman"/>
                <a:cs typeface="Times New Roman"/>
              </a:rPr>
              <a:t>4. Tree Visualization: Display the resulting optimal BST structure.</a:t>
            </a:r>
            <a:endParaRPr lang="en-US" sz="2400">
              <a:latin typeface="Times New Roman"/>
              <a:ea typeface="Calibri"/>
              <a:cs typeface="Times New Roman"/>
            </a:endParaRPr>
          </a:p>
          <a:p>
            <a:r>
              <a:rPr lang="en-US" sz="2400">
                <a:latin typeface="Times New Roman"/>
                <a:cs typeface="Times New Roman"/>
              </a:rPr>
              <a:t>5. </a:t>
            </a:r>
            <a:r>
              <a:rPr lang="en-US" sz="2400" dirty="0">
                <a:latin typeface="Times New Roman"/>
                <a:cs typeface="Times New Roman"/>
              </a:rPr>
              <a:t>Cost Computation: Output the minimum expected search cost.</a:t>
            </a:r>
            <a:endParaRPr lang="en-US" sz="2400">
              <a:latin typeface="Times New Roman"/>
              <a:ea typeface="Calibri"/>
              <a:cs typeface="Times New Roman"/>
            </a:endParaRPr>
          </a:p>
          <a:p>
            <a:r>
              <a:rPr lang="en-US" sz="2400">
                <a:latin typeface="Times New Roman"/>
                <a:cs typeface="Times New Roman"/>
              </a:rPr>
              <a:t>6. </a:t>
            </a:r>
            <a:r>
              <a:rPr lang="en-US" sz="2400" dirty="0">
                <a:latin typeface="Times New Roman"/>
                <a:cs typeface="Times New Roman"/>
              </a:rPr>
              <a:t>Performance Analysis: Compare DP efficiency (O(n3)) against brute-force (exponential) approaches.</a:t>
            </a:r>
            <a:endParaRPr lang="en-US" sz="2400">
              <a:latin typeface="Times New Roman"/>
              <a:ea typeface="Calibri"/>
              <a:cs typeface="Times New Roman"/>
            </a:endParaRP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a:extLst>
              <a:ext uri="{FF2B5EF4-FFF2-40B4-BE49-F238E27FC236}">
                <a16:creationId xmlns:a16="http://schemas.microsoft.com/office/drawing/2014/main" id="{DC9DE95A-FB29-CB9F-778A-E4EFD2C0A628}"/>
              </a:ext>
            </a:extLst>
          </p:cNvPr>
          <p:cNvPicPr>
            <a:picLocks noChangeAspect="1"/>
          </p:cNvPicPr>
          <p:nvPr/>
        </p:nvPicPr>
        <p:blipFill>
          <a:blip r:embed="rId2"/>
          <a:stretch>
            <a:fillRect/>
          </a:stretch>
        </p:blipFill>
        <p:spPr>
          <a:xfrm>
            <a:off x="1848971" y="773206"/>
            <a:ext cx="8494059" cy="568138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5F7A599D-7C7F-2599-92E6-562F9AE267B9}"/>
              </a:ext>
            </a:extLst>
          </p:cNvPr>
          <p:cNvSpPr txBox="1"/>
          <p:nvPr/>
        </p:nvSpPr>
        <p:spPr>
          <a:xfrm>
            <a:off x="885263" y="930089"/>
            <a:ext cx="6073589" cy="3139321"/>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Times New Roman"/>
                <a:ea typeface="quote-cjk-patch"/>
                <a:cs typeface="Times New Roman"/>
              </a:rPr>
              <a:t>Test Case:</a:t>
            </a:r>
            <a:endParaRPr lang="en-US" b="1" i="0" dirty="0">
              <a:latin typeface="Times New Roman"/>
              <a:ea typeface="quote-cjk-patch"/>
              <a:cs typeface="Times New Roman"/>
            </a:endParaRPr>
          </a:p>
          <a:p>
            <a:r>
              <a:rPr lang="en-US" b="0" i="0">
                <a:latin typeface="Times New Roman"/>
                <a:ea typeface="quote-cjk-patch"/>
                <a:cs typeface="Times New Roman"/>
              </a:rPr>
              <a:t>Keys: {10, 20, 30}</a:t>
            </a:r>
            <a:r>
              <a:rPr lang="en-US">
                <a:latin typeface="Times New Roman"/>
                <a:ea typeface="quote-cjk-patch"/>
                <a:cs typeface="Times New Roman"/>
              </a:rPr>
              <a:t>  </a:t>
            </a:r>
            <a:r>
              <a:rPr lang="en-US" b="0" i="0">
                <a:latin typeface="Times New Roman"/>
                <a:ea typeface="quote-cjk-patch"/>
                <a:cs typeface="Times New Roman"/>
              </a:rPr>
              <a:t>Frequencies: {3, 2, 5}</a:t>
            </a:r>
            <a:endParaRPr lang="en-US" b="0" i="0" dirty="0">
              <a:latin typeface="Times New Roman"/>
              <a:ea typeface="quote-cjk-patch"/>
              <a:cs typeface="Times New Roman"/>
            </a:endParaRPr>
          </a:p>
          <a:p>
            <a:pPr algn="l"/>
            <a:r>
              <a:rPr lang="en-US" b="1" i="0">
                <a:latin typeface="Times New Roman"/>
                <a:ea typeface="quote-cjk-patch"/>
                <a:cs typeface="Times New Roman"/>
              </a:rPr>
              <a:t>Computed DP Cost Table (C[i][j]):</a:t>
            </a:r>
          </a:p>
          <a:p>
            <a:pPr algn="l"/>
            <a:endParaRPr lang="en-US" b="1" i="0" dirty="0">
              <a:latin typeface="Times New Roman"/>
              <a:ea typeface="quote-cjk-patch"/>
              <a:cs typeface="Times New Roman"/>
            </a:endParaRPr>
          </a:p>
          <a:p>
            <a:pPr algn="l"/>
            <a:endParaRPr lang="en-US" b="1" i="0" dirty="0">
              <a:latin typeface="Times New Roman"/>
              <a:ea typeface="quote-cjk-patch"/>
              <a:cs typeface="Times New Roman"/>
            </a:endParaRPr>
          </a:p>
          <a:p>
            <a:pPr algn="l"/>
            <a:endParaRPr lang="en-US" b="1" i="0" dirty="0">
              <a:latin typeface="Times New Roman"/>
              <a:ea typeface="quote-cjk-patch"/>
              <a:cs typeface="Times New Roman"/>
            </a:endParaRPr>
          </a:p>
          <a:p>
            <a:pPr algn="l"/>
            <a:endParaRPr lang="en-US" b="0" i="0" dirty="0">
              <a:latin typeface="Times New Roman"/>
              <a:ea typeface="quote-cjk-patch"/>
              <a:cs typeface="Times New Roman"/>
            </a:endParaRPr>
          </a:p>
          <a:p>
            <a:endParaRPr lang="en-US" dirty="0">
              <a:latin typeface="Times New Roman"/>
              <a:ea typeface="quote-cjk-patch"/>
              <a:cs typeface="Times New Roman"/>
            </a:endParaRPr>
          </a:p>
          <a:p>
            <a:endParaRPr lang="en-US" dirty="0">
              <a:latin typeface="Times New Roman"/>
              <a:ea typeface="quote-cjk-patch"/>
              <a:cs typeface="Times New Roman"/>
            </a:endParaRPr>
          </a:p>
          <a:p>
            <a:pPr algn="l"/>
            <a:r>
              <a:rPr lang="en-US" b="1" i="0">
                <a:latin typeface="Times New Roman"/>
                <a:ea typeface="quote-cjk-patch"/>
                <a:cs typeface="Times New Roman"/>
              </a:rPr>
              <a:t>Optimal Root:</a:t>
            </a:r>
            <a:r>
              <a:rPr lang="en-US" b="0" i="0">
                <a:latin typeface="Times New Roman"/>
                <a:ea typeface="quote-cjk-patch"/>
                <a:cs typeface="Times New Roman"/>
              </a:rPr>
              <a:t> Root[1][3] = 2 → Overall root is 20</a:t>
            </a:r>
            <a:endParaRPr lang="en-US" b="0" i="0" dirty="0">
              <a:latin typeface="Times New Roman"/>
              <a:ea typeface="quote-cjk-patch"/>
              <a:cs typeface="Times New Roman"/>
            </a:endParaRPr>
          </a:p>
          <a:p>
            <a:pPr algn="ctr"/>
            <a:endParaRPr lang="en-GB" dirty="0">
              <a:latin typeface="Times New Roman"/>
              <a:cs typeface="Times New Roman"/>
            </a:endParaRPr>
          </a:p>
        </p:txBody>
      </p:sp>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10" name="TextBox 9">
            <a:extLst>
              <a:ext uri="{FF2B5EF4-FFF2-40B4-BE49-F238E27FC236}">
                <a16:creationId xmlns:a16="http://schemas.microsoft.com/office/drawing/2014/main" id="{6F428429-4CFC-30DD-97A9-A09C18B3A5C0}"/>
              </a:ext>
            </a:extLst>
          </p:cNvPr>
          <p:cNvSpPr txBox="1"/>
          <p:nvPr/>
        </p:nvSpPr>
        <p:spPr>
          <a:xfrm>
            <a:off x="862853" y="3832412"/>
            <a:ext cx="8639735" cy="258532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Times New Roman"/>
                <a:ea typeface="quote-cjk-patch"/>
                <a:cs typeface="Times New Roman"/>
              </a:rPr>
              <a:t>Resulting Optimal BST Structure:</a:t>
            </a:r>
          </a:p>
          <a:p>
            <a:r>
              <a:rPr lang="en-US">
                <a:latin typeface="Times New Roman"/>
                <a:ea typeface="quote-cjk-patch"/>
                <a:cs typeface="Times New Roman"/>
              </a:rPr>
              <a:t> </a:t>
            </a:r>
            <a:r>
              <a:rPr lang="en-US" b="0" i="0">
                <a:latin typeface="Times New Roman"/>
                <a:ea typeface="quote-cjk-patch"/>
                <a:cs typeface="Times New Roman"/>
              </a:rPr>
              <a:t>[20]</a:t>
            </a:r>
            <a:endParaRPr lang="en-US">
              <a:latin typeface="Times New Roman"/>
              <a:ea typeface="quote-cjk-patch"/>
              <a:cs typeface="Times New Roman"/>
            </a:endParaRPr>
          </a:p>
          <a:p>
            <a:r>
              <a:rPr lang="en-US">
                <a:latin typeface="Times New Roman"/>
                <a:ea typeface="quote-cjk-patch"/>
                <a:cs typeface="Times New Roman"/>
              </a:rPr>
              <a:t>      </a:t>
            </a:r>
            <a:r>
              <a:rPr lang="en-US" b="0" i="0">
                <a:latin typeface="Times New Roman"/>
                <a:ea typeface="quote-cjk-patch"/>
                <a:cs typeface="Times New Roman"/>
              </a:rPr>
              <a:t>/ \ </a:t>
            </a:r>
            <a:endParaRPr lang="en-US">
              <a:latin typeface="Times New Roman"/>
              <a:ea typeface="Calibri"/>
              <a:cs typeface="Times New Roman"/>
            </a:endParaRPr>
          </a:p>
          <a:p>
            <a:r>
              <a:rPr lang="en-US">
                <a:latin typeface="Times New Roman"/>
                <a:ea typeface="quote-cjk-patch"/>
                <a:cs typeface="Times New Roman"/>
              </a:rPr>
              <a:t> </a:t>
            </a:r>
            <a:r>
              <a:rPr lang="en-US" b="0" i="0">
                <a:latin typeface="Times New Roman"/>
                <a:ea typeface="quote-cjk-patch"/>
                <a:cs typeface="Times New Roman"/>
              </a:rPr>
              <a:t>[10] [30]</a:t>
            </a:r>
            <a:endParaRPr lang="en-US">
              <a:latin typeface="Times New Roman"/>
              <a:ea typeface="Calibri"/>
              <a:cs typeface="Times New Roman"/>
            </a:endParaRPr>
          </a:p>
          <a:p>
            <a:pPr algn="l"/>
            <a:r>
              <a:rPr lang="en-US" b="1" i="0">
                <a:latin typeface="Times New Roman"/>
                <a:ea typeface="quote-cjk-patch"/>
                <a:cs typeface="Times New Roman"/>
              </a:rPr>
              <a:t>Expected Search Cost Calculation:</a:t>
            </a:r>
          </a:p>
          <a:p>
            <a:pPr marL="228600" indent="-228600" algn="l">
              <a:buFont typeface=""/>
              <a:buChar char="•"/>
            </a:pPr>
            <a:r>
              <a:rPr lang="en-US" b="0" i="0">
                <a:latin typeface="Times New Roman"/>
                <a:ea typeface="quote-cjk-patch"/>
                <a:cs typeface="Times New Roman"/>
              </a:rPr>
              <a:t>Cost = (Freq of 20 × Depth 0) + (Freq of 10 × Depth 1) + (Freq of 30 × Depth 1)</a:t>
            </a:r>
          </a:p>
          <a:p>
            <a:pPr marL="228600" indent="-228600" algn="l">
              <a:buFont typeface=""/>
              <a:buChar char="•"/>
            </a:pPr>
            <a:r>
              <a:rPr lang="en-US" b="0" i="0">
                <a:latin typeface="Times New Roman"/>
                <a:ea typeface="quote-cjk-patch"/>
                <a:cs typeface="Times New Roman"/>
              </a:rPr>
              <a:t>Cost = (2 × 1) + (3 × 2) + (5 × 2) = 2 + 6 + 10 = </a:t>
            </a:r>
            <a:r>
              <a:rPr lang="en-US" b="1" i="0">
                <a:latin typeface="Times New Roman"/>
                <a:ea typeface="quote-cjk-patch"/>
                <a:cs typeface="Times New Roman"/>
              </a:rPr>
              <a:t>18</a:t>
            </a:r>
          </a:p>
          <a:p>
            <a:pPr marL="228600" indent="-228600" algn="l">
              <a:buFont typeface=""/>
              <a:buChar char="•"/>
            </a:pPr>
            <a:r>
              <a:rPr lang="en-US" b="1" i="0">
                <a:latin typeface="Times New Roman"/>
                <a:ea typeface="quote-cjk-patch"/>
                <a:cs typeface="Times New Roman"/>
              </a:rPr>
              <a:t>Worst-case cost</a:t>
            </a:r>
            <a:r>
              <a:rPr lang="en-US" b="0" i="0">
                <a:latin typeface="Times New Roman"/>
                <a:ea typeface="quote-cjk-patch"/>
                <a:cs typeface="Times New Roman"/>
              </a:rPr>
              <a:t> (if root 10): 3×1 + 2×2 + 5×3 = 22.</a:t>
            </a:r>
          </a:p>
          <a:p>
            <a:pPr marL="228600" indent="-228600" algn="l">
              <a:buFont typeface=""/>
              <a:buChar char="•"/>
            </a:pPr>
            <a:r>
              <a:rPr lang="en-US" b="1" i="0">
                <a:latin typeface="Times New Roman"/>
                <a:ea typeface="quote-cjk-patch"/>
                <a:cs typeface="Times New Roman"/>
              </a:rPr>
              <a:t>Improvement:</a:t>
            </a:r>
            <a:r>
              <a:rPr lang="en-US" b="0" i="0">
                <a:latin typeface="Times New Roman"/>
                <a:ea typeface="quote-cjk-patch"/>
                <a:cs typeface="Times New Roman"/>
              </a:rPr>
              <a:t> ~18.18% reduction in search cost.</a:t>
            </a:r>
          </a:p>
        </p:txBody>
      </p:sp>
      <p:graphicFrame>
        <p:nvGraphicFramePr>
          <p:cNvPr id="12" name="Table 11">
            <a:extLst>
              <a:ext uri="{FF2B5EF4-FFF2-40B4-BE49-F238E27FC236}">
                <a16:creationId xmlns:a16="http://schemas.microsoft.com/office/drawing/2014/main" id="{156BB320-97BD-56DA-92B2-E6B8A45E1163}"/>
              </a:ext>
            </a:extLst>
          </p:cNvPr>
          <p:cNvGraphicFramePr>
            <a:graphicFrameLocks noGrp="1"/>
          </p:cNvGraphicFramePr>
          <p:nvPr>
            <p:extLst>
              <p:ext uri="{D42A27DB-BD31-4B8C-83A1-F6EECF244321}">
                <p14:modId xmlns:p14="http://schemas.microsoft.com/office/powerpoint/2010/main" val="3650995386"/>
              </p:ext>
            </p:extLst>
          </p:nvPr>
        </p:nvGraphicFramePr>
        <p:xfrm>
          <a:off x="862852" y="1841850"/>
          <a:ext cx="6613504" cy="1516636"/>
        </p:xfrm>
        <a:graphic>
          <a:graphicData uri="http://schemas.openxmlformats.org/drawingml/2006/table">
            <a:tbl>
              <a:tblPr bandRow="1">
                <a:tableStyleId>{5C22544A-7EE6-4342-B048-85BDC9FD1C3A}</a:tableStyleId>
              </a:tblPr>
              <a:tblGrid>
                <a:gridCol w="1413370">
                  <a:extLst>
                    <a:ext uri="{9D8B030D-6E8A-4147-A177-3AD203B41FA5}">
                      <a16:colId xmlns:a16="http://schemas.microsoft.com/office/drawing/2014/main" val="2889494271"/>
                    </a:ext>
                  </a:extLst>
                </a:gridCol>
                <a:gridCol w="1733378">
                  <a:extLst>
                    <a:ext uri="{9D8B030D-6E8A-4147-A177-3AD203B41FA5}">
                      <a16:colId xmlns:a16="http://schemas.microsoft.com/office/drawing/2014/main" val="2562543366"/>
                    </a:ext>
                  </a:extLst>
                </a:gridCol>
                <a:gridCol w="1733378">
                  <a:extLst>
                    <a:ext uri="{9D8B030D-6E8A-4147-A177-3AD203B41FA5}">
                      <a16:colId xmlns:a16="http://schemas.microsoft.com/office/drawing/2014/main" val="3252465770"/>
                    </a:ext>
                  </a:extLst>
                </a:gridCol>
                <a:gridCol w="1733378">
                  <a:extLst>
                    <a:ext uri="{9D8B030D-6E8A-4147-A177-3AD203B41FA5}">
                      <a16:colId xmlns:a16="http://schemas.microsoft.com/office/drawing/2014/main" val="371093439"/>
                    </a:ext>
                  </a:extLst>
                </a:gridCol>
              </a:tblGrid>
              <a:tr h="327244">
                <a:tc>
                  <a:txBody>
                    <a:bodyPr/>
                    <a:lstStyle/>
                    <a:p>
                      <a:pPr algn="l">
                        <a:lnSpc>
                          <a:spcPct val="138889"/>
                        </a:lnSpc>
                        <a:buNone/>
                      </a:pPr>
                      <a:endParaRPr lang="en-GB" sz="1000" b="1" dirty="0">
                        <a:effectLst/>
                        <a:latin typeface="Times New Roman"/>
                        <a:cs typeface="Times New Roman"/>
                      </a:endParaRPr>
                    </a:p>
                  </a:txBody>
                  <a:tcPr marR="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l">
                        <a:lnSpc>
                          <a:spcPct val="138889"/>
                        </a:lnSpc>
                        <a:buNone/>
                      </a:pPr>
                      <a:r>
                        <a:rPr lang="en-GB" sz="1000" b="1">
                          <a:effectLst/>
                          <a:latin typeface="Times New Roman"/>
                          <a:cs typeface="Times New Roman"/>
                        </a:rPr>
                        <a:t>1</a:t>
                      </a:r>
                      <a:endParaRPr lang="en-GB" sz="1000" b="1" dirty="0">
                        <a:effectLst/>
                        <a:latin typeface="Times New Roman"/>
                        <a:cs typeface="Times New Roman"/>
                      </a:endParaRPr>
                    </a:p>
                  </a:txBody>
                  <a:tcPr marL="152400" marR="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l">
                        <a:lnSpc>
                          <a:spcPct val="138889"/>
                        </a:lnSpc>
                        <a:buNone/>
                      </a:pPr>
                      <a:r>
                        <a:rPr lang="en-GB" sz="1000" b="1">
                          <a:effectLst/>
                          <a:latin typeface="Times New Roman"/>
                          <a:cs typeface="Times New Roman"/>
                        </a:rPr>
                        <a:t>2</a:t>
                      </a:r>
                      <a:endParaRPr lang="en-GB" sz="1000" b="1" dirty="0">
                        <a:effectLst/>
                        <a:latin typeface="Times New Roman"/>
                        <a:cs typeface="Times New Roman"/>
                      </a:endParaRPr>
                    </a:p>
                  </a:txBody>
                  <a:tcPr marL="152400" marR="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l">
                        <a:lnSpc>
                          <a:spcPct val="138889"/>
                        </a:lnSpc>
                        <a:buNone/>
                      </a:pPr>
                      <a:r>
                        <a:rPr lang="en-GB" sz="1000" b="1">
                          <a:effectLst/>
                          <a:latin typeface="Times New Roman"/>
                          <a:cs typeface="Times New Roman"/>
                        </a:rPr>
                        <a:t>3</a:t>
                      </a:r>
                      <a:endParaRPr lang="en-GB" sz="1000" b="1" dirty="0">
                        <a:effectLst/>
                        <a:latin typeface="Times New Roman"/>
                        <a:cs typeface="Times New Roman"/>
                      </a:endParaRPr>
                    </a:p>
                  </a:txBody>
                  <a:tcPr marL="152400" marR="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138197518"/>
                  </a:ext>
                </a:extLst>
              </a:tr>
              <a:tr h="327244">
                <a:tc>
                  <a:txBody>
                    <a:bodyPr/>
                    <a:lstStyle/>
                    <a:p>
                      <a:pPr>
                        <a:lnSpc>
                          <a:spcPct val="138889"/>
                        </a:lnSpc>
                        <a:buNone/>
                      </a:pPr>
                      <a:r>
                        <a:rPr lang="en-GB" sz="1000" b="1">
                          <a:effectLst/>
                          <a:latin typeface="Times New Roman"/>
                          <a:cs typeface="Times New Roman"/>
                        </a:rPr>
                        <a:t>1</a:t>
                      </a:r>
                      <a:endParaRPr lang="en-GB" sz="1000" b="1" dirty="0">
                        <a:effectLst/>
                        <a:latin typeface="Times New Roman"/>
                        <a:cs typeface="Times New Roman"/>
                      </a:endParaRPr>
                    </a:p>
                  </a:txBody>
                  <a:tcPr marR="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nSpc>
                          <a:spcPct val="138889"/>
                        </a:lnSpc>
                        <a:buNone/>
                      </a:pPr>
                      <a:r>
                        <a:rPr lang="en-GB" sz="1000" b="1">
                          <a:effectLst/>
                          <a:latin typeface="Times New Roman"/>
                          <a:cs typeface="Times New Roman"/>
                        </a:rPr>
                        <a:t>3</a:t>
                      </a:r>
                      <a:endParaRPr lang="en-GB" sz="1000" b="1" dirty="0">
                        <a:effectLst/>
                        <a:latin typeface="Times New Roman"/>
                        <a:cs typeface="Times New Roman"/>
                      </a:endParaRPr>
                    </a:p>
                  </a:txBody>
                  <a:tcPr marL="152400" marR="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nSpc>
                          <a:spcPct val="138889"/>
                        </a:lnSpc>
                        <a:buNone/>
                      </a:pPr>
                      <a:r>
                        <a:rPr lang="en-GB" sz="1000" b="1">
                          <a:effectLst/>
                          <a:latin typeface="Times New Roman"/>
                          <a:cs typeface="Times New Roman"/>
                        </a:rPr>
                        <a:t>7</a:t>
                      </a:r>
                      <a:endParaRPr lang="en-GB" sz="1000" b="1" dirty="0">
                        <a:effectLst/>
                        <a:latin typeface="Times New Roman"/>
                        <a:cs typeface="Times New Roman"/>
                      </a:endParaRPr>
                    </a:p>
                  </a:txBody>
                  <a:tcPr marL="152400" marR="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nSpc>
                          <a:spcPct val="138889"/>
                        </a:lnSpc>
                        <a:buNone/>
                      </a:pPr>
                      <a:r>
                        <a:rPr lang="en-GB" sz="1000" b="1">
                          <a:effectLst/>
                          <a:latin typeface="Times New Roman"/>
                          <a:cs typeface="Times New Roman"/>
                        </a:rPr>
                        <a:t>18 (Final Answer)</a:t>
                      </a:r>
                      <a:endParaRPr lang="en-GB" sz="1000" b="1" dirty="0">
                        <a:effectLst/>
                        <a:latin typeface="Times New Roman"/>
                        <a:cs typeface="Times New Roman"/>
                      </a:endParaRPr>
                    </a:p>
                  </a:txBody>
                  <a:tcPr marL="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41390555"/>
                  </a:ext>
                </a:extLst>
              </a:tr>
              <a:tr h="327244">
                <a:tc>
                  <a:txBody>
                    <a:bodyPr/>
                    <a:lstStyle/>
                    <a:p>
                      <a:pPr>
                        <a:lnSpc>
                          <a:spcPct val="138889"/>
                        </a:lnSpc>
                        <a:buNone/>
                      </a:pPr>
                      <a:r>
                        <a:rPr lang="en-GB" sz="1000" b="1">
                          <a:effectLst/>
                          <a:latin typeface="Times New Roman"/>
                          <a:cs typeface="Times New Roman"/>
                        </a:rPr>
                        <a:t>2</a:t>
                      </a:r>
                      <a:endParaRPr lang="en-GB" sz="1000" b="1" dirty="0">
                        <a:effectLst/>
                        <a:latin typeface="Times New Roman"/>
                        <a:cs typeface="Times New Roman"/>
                      </a:endParaRPr>
                    </a:p>
                  </a:txBody>
                  <a:tcPr marR="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nSpc>
                          <a:spcPct val="138889"/>
                        </a:lnSpc>
                        <a:buNone/>
                      </a:pPr>
                      <a:r>
                        <a:rPr lang="en-GB" sz="1000" b="1">
                          <a:effectLst/>
                          <a:latin typeface="Times New Roman"/>
                          <a:cs typeface="Times New Roman"/>
                        </a:rPr>
                        <a:t>-</a:t>
                      </a:r>
                      <a:endParaRPr lang="en-GB" sz="1000" b="1" dirty="0">
                        <a:effectLst/>
                        <a:latin typeface="Times New Roman"/>
                        <a:cs typeface="Times New Roman"/>
                      </a:endParaRPr>
                    </a:p>
                  </a:txBody>
                  <a:tcPr marL="152400" marR="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nSpc>
                          <a:spcPct val="138889"/>
                        </a:lnSpc>
                        <a:buNone/>
                      </a:pPr>
                      <a:r>
                        <a:rPr lang="en-GB" sz="1000" b="1">
                          <a:effectLst/>
                          <a:latin typeface="Times New Roman"/>
                          <a:cs typeface="Times New Roman"/>
                        </a:rPr>
                        <a:t>2</a:t>
                      </a:r>
                      <a:endParaRPr lang="en-GB" sz="1000" b="1" dirty="0">
                        <a:effectLst/>
                        <a:latin typeface="Times New Roman"/>
                        <a:cs typeface="Times New Roman"/>
                      </a:endParaRPr>
                    </a:p>
                  </a:txBody>
                  <a:tcPr marL="152400" marR="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nSpc>
                          <a:spcPct val="138889"/>
                        </a:lnSpc>
                        <a:buNone/>
                      </a:pPr>
                      <a:r>
                        <a:rPr lang="en-GB" sz="1000" b="1">
                          <a:effectLst/>
                          <a:latin typeface="Times New Roman"/>
                          <a:cs typeface="Times New Roman"/>
                        </a:rPr>
                        <a:t>9</a:t>
                      </a:r>
                      <a:endParaRPr lang="en-GB" sz="1000" b="1" dirty="0">
                        <a:effectLst/>
                        <a:latin typeface="Times New Roman"/>
                        <a:cs typeface="Times New Roman"/>
                      </a:endParaRPr>
                    </a:p>
                  </a:txBody>
                  <a:tcPr marL="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345035344"/>
                  </a:ext>
                </a:extLst>
              </a:tr>
              <a:tr h="327244">
                <a:tc>
                  <a:txBody>
                    <a:bodyPr/>
                    <a:lstStyle/>
                    <a:p>
                      <a:pPr>
                        <a:lnSpc>
                          <a:spcPct val="138889"/>
                        </a:lnSpc>
                        <a:buNone/>
                      </a:pPr>
                      <a:r>
                        <a:rPr lang="en-GB" sz="1000" b="1">
                          <a:effectLst/>
                          <a:latin typeface="Times New Roman"/>
                          <a:cs typeface="Times New Roman"/>
                        </a:rPr>
                        <a:t>3</a:t>
                      </a:r>
                      <a:endParaRPr lang="en-GB" sz="1000" b="1">
                        <a:solidFill>
                          <a:schemeClr val="tx1"/>
                        </a:solidFill>
                        <a:effectLst/>
                        <a:latin typeface="Times New Roman"/>
                        <a:ea typeface="+mn-lt"/>
                        <a:cs typeface="Times New Roman"/>
                      </a:endParaRPr>
                    </a:p>
                  </a:txBody>
                  <a:tcPr marR="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nSpc>
                          <a:spcPct val="138889"/>
                        </a:lnSpc>
                        <a:buNone/>
                      </a:pPr>
                      <a:r>
                        <a:rPr lang="en-GB" sz="1000" b="1">
                          <a:effectLst/>
                          <a:latin typeface="Times New Roman"/>
                          <a:cs typeface="Times New Roman"/>
                        </a:rPr>
                        <a:t>-</a:t>
                      </a:r>
                      <a:endParaRPr lang="en-GB" sz="1000" b="1" dirty="0">
                        <a:effectLst/>
                        <a:latin typeface="Times New Roman"/>
                        <a:cs typeface="Times New Roman"/>
                      </a:endParaRPr>
                    </a:p>
                  </a:txBody>
                  <a:tcPr marL="152400" marR="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nSpc>
                          <a:spcPct val="138889"/>
                        </a:lnSpc>
                        <a:buNone/>
                      </a:pPr>
                      <a:r>
                        <a:rPr lang="en-GB" sz="1000" b="1">
                          <a:effectLst/>
                          <a:latin typeface="Times New Roman"/>
                          <a:cs typeface="Times New Roman"/>
                        </a:rPr>
                        <a:t>-</a:t>
                      </a:r>
                      <a:endParaRPr lang="en-GB" sz="1000" b="1" dirty="0">
                        <a:effectLst/>
                        <a:latin typeface="Times New Roman"/>
                        <a:cs typeface="Times New Roman"/>
                      </a:endParaRPr>
                    </a:p>
                  </a:txBody>
                  <a:tcPr marL="152400" marR="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nSpc>
                          <a:spcPct val="138889"/>
                        </a:lnSpc>
                        <a:buNone/>
                      </a:pPr>
                      <a:r>
                        <a:rPr lang="en-GB" sz="1000" b="1">
                          <a:effectLst/>
                          <a:latin typeface="Times New Roman"/>
                          <a:cs typeface="Times New Roman"/>
                        </a:rPr>
                        <a:t>5</a:t>
                      </a:r>
                      <a:endParaRPr lang="en-GB" sz="1000" b="1" dirty="0">
                        <a:effectLst/>
                        <a:latin typeface="Times New Roman"/>
                        <a:cs typeface="Times New Roman"/>
                      </a:endParaRPr>
                    </a:p>
                  </a:txBody>
                  <a:tcPr marL="152400" marT="95250" marB="9525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346530582"/>
                  </a:ext>
                </a:extLst>
              </a:tr>
            </a:tbl>
          </a:graphicData>
        </a:graphic>
      </p:graphicFrame>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lIns="91440" tIns="45720" rIns="91440" bIns="45720" rtlCol="0" anchor="t">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a typeface="Calibri"/>
              <a:cs typeface="Calibri"/>
            </a:endParaRPr>
          </a:p>
        </p:txBody>
      </p:sp>
      <p:graphicFrame>
        <p:nvGraphicFramePr>
          <p:cNvPr id="7" name="Table 6">
            <a:extLst>
              <a:ext uri="{FF2B5EF4-FFF2-40B4-BE49-F238E27FC236}">
                <a16:creationId xmlns:a16="http://schemas.microsoft.com/office/drawing/2014/main" id="{0D33ED43-5E08-B991-33E0-03020C96B981}"/>
              </a:ext>
            </a:extLst>
          </p:cNvPr>
          <p:cNvGraphicFramePr>
            <a:graphicFrameLocks noGrp="1"/>
          </p:cNvGraphicFramePr>
          <p:nvPr>
            <p:extLst>
              <p:ext uri="{D42A27DB-BD31-4B8C-83A1-F6EECF244321}">
                <p14:modId xmlns:p14="http://schemas.microsoft.com/office/powerpoint/2010/main" val="922881395"/>
              </p:ext>
            </p:extLst>
          </p:nvPr>
        </p:nvGraphicFramePr>
        <p:xfrm>
          <a:off x="1535206" y="1098176"/>
          <a:ext cx="9406775" cy="4900832"/>
        </p:xfrm>
        <a:graphic>
          <a:graphicData uri="http://schemas.openxmlformats.org/drawingml/2006/table">
            <a:tbl>
              <a:tblPr bandRow="1">
                <a:tableStyleId>{5C22544A-7EE6-4342-B048-85BDC9FD1C3A}</a:tableStyleId>
              </a:tblPr>
              <a:tblGrid>
                <a:gridCol w="3332863">
                  <a:extLst>
                    <a:ext uri="{9D8B030D-6E8A-4147-A177-3AD203B41FA5}">
                      <a16:colId xmlns:a16="http://schemas.microsoft.com/office/drawing/2014/main" val="753382425"/>
                    </a:ext>
                  </a:extLst>
                </a:gridCol>
                <a:gridCol w="6073912">
                  <a:extLst>
                    <a:ext uri="{9D8B030D-6E8A-4147-A177-3AD203B41FA5}">
                      <a16:colId xmlns:a16="http://schemas.microsoft.com/office/drawing/2014/main" val="2329591750"/>
                    </a:ext>
                  </a:extLst>
                </a:gridCol>
              </a:tblGrid>
              <a:tr h="463525">
                <a:tc>
                  <a:txBody>
                    <a:bodyPr/>
                    <a:lstStyle/>
                    <a:p>
                      <a:pPr algn="l">
                        <a:lnSpc>
                          <a:spcPct val="138889"/>
                        </a:lnSpc>
                        <a:buNone/>
                      </a:pPr>
                      <a:r>
                        <a:rPr lang="en-GB" sz="1800" b="0" i="0">
                          <a:solidFill>
                            <a:schemeClr val="tx1"/>
                          </a:solidFill>
                          <a:effectLst/>
                          <a:latin typeface="Times New Roman"/>
                          <a:cs typeface="Times New Roman"/>
                        </a:rPr>
                        <a:t>Category</a:t>
                      </a:r>
                      <a:endParaRPr lang="en-GB" sz="18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800" b="0" i="0">
                          <a:solidFill>
                            <a:schemeClr val="tx1"/>
                          </a:solidFill>
                          <a:effectLst/>
                          <a:latin typeface="Times New Roman"/>
                          <a:cs typeface="Times New Roman"/>
                        </a:rPr>
                        <a:t>Specification</a:t>
                      </a:r>
                      <a:endParaRPr lang="en-GB" sz="1800" b="0" i="0" dirty="0">
                        <a:solidFill>
                          <a:schemeClr val="tx1"/>
                        </a:solidFill>
                        <a:effectLst/>
                        <a:latin typeface="Times New Roman"/>
                        <a:cs typeface="Times New Roman"/>
                      </a:endParaRPr>
                    </a:p>
                  </a:txBody>
                  <a:tcPr marL="152400" marR="152400" marT="95250" marB="95250" anchor="ctr">
                    <a:lnL>
                      <a:noFill/>
                    </a:lnL>
                    <a:lnR>
                      <a:noFill/>
                    </a:lnR>
                    <a:lnT>
                      <a:noFill/>
                    </a:lnT>
                    <a:lnB>
                      <a:noFill/>
                    </a:lnB>
                    <a:solidFill>
                      <a:schemeClr val="bg1"/>
                    </a:solidFill>
                  </a:tcPr>
                </a:tc>
                <a:extLst>
                  <a:ext uri="{0D108BD9-81ED-4DB2-BD59-A6C34878D82A}">
                    <a16:rowId xmlns:a16="http://schemas.microsoft.com/office/drawing/2014/main" val="2510150798"/>
                  </a:ext>
                </a:extLst>
              </a:tr>
              <a:tr h="640106">
                <a:tc>
                  <a:txBody>
                    <a:bodyPr/>
                    <a:lstStyle/>
                    <a:p>
                      <a:pPr algn="l">
                        <a:lnSpc>
                          <a:spcPct val="138889"/>
                        </a:lnSpc>
                        <a:buNone/>
                      </a:pPr>
                      <a:r>
                        <a:rPr lang="en-GB" sz="1800" b="1" i="0">
                          <a:solidFill>
                            <a:schemeClr val="tx1"/>
                          </a:solidFill>
                          <a:effectLst/>
                          <a:latin typeface="Times New Roman"/>
                          <a:cs typeface="Times New Roman"/>
                        </a:rPr>
                        <a:t>Processor</a:t>
                      </a:r>
                      <a:endParaRPr lang="en-GB" sz="18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800" b="0" i="0" dirty="0">
                          <a:solidFill>
                            <a:schemeClr val="tx1"/>
                          </a:solidFill>
                          <a:effectLst/>
                          <a:latin typeface="Times New Roman"/>
                          <a:cs typeface="Times New Roman"/>
                        </a:rPr>
                        <a:t>Intel Core i3 / AMD </a:t>
                      </a:r>
                      <a:r>
                        <a:rPr lang="en-GB" sz="1800" b="0" i="0" dirty="0" err="1">
                          <a:solidFill>
                            <a:schemeClr val="tx1"/>
                          </a:solidFill>
                          <a:effectLst/>
                          <a:latin typeface="Times New Roman"/>
                          <a:cs typeface="Times New Roman"/>
                        </a:rPr>
                        <a:t>Ryzen</a:t>
                      </a:r>
                      <a:r>
                        <a:rPr lang="en-GB" sz="1800" b="0" i="0" dirty="0">
                          <a:solidFill>
                            <a:schemeClr val="tx1"/>
                          </a:solidFill>
                          <a:effectLst/>
                          <a:latin typeface="Times New Roman"/>
                          <a:cs typeface="Times New Roman"/>
                        </a:rPr>
                        <a:t> 3 or higher</a:t>
                      </a:r>
                    </a:p>
                  </a:txBody>
                  <a:tcPr marL="152400" marT="95250" marB="95250" anchor="ctr">
                    <a:lnL>
                      <a:noFill/>
                    </a:lnL>
                    <a:lnR>
                      <a:noFill/>
                    </a:lnR>
                    <a:lnT>
                      <a:noFill/>
                    </a:lnT>
                    <a:lnB>
                      <a:noFill/>
                    </a:lnB>
                    <a:solidFill>
                      <a:schemeClr val="bg1"/>
                    </a:solidFill>
                  </a:tcPr>
                </a:tc>
                <a:extLst>
                  <a:ext uri="{0D108BD9-81ED-4DB2-BD59-A6C34878D82A}">
                    <a16:rowId xmlns:a16="http://schemas.microsoft.com/office/drawing/2014/main" val="4207139313"/>
                  </a:ext>
                </a:extLst>
              </a:tr>
              <a:tr h="640106">
                <a:tc>
                  <a:txBody>
                    <a:bodyPr/>
                    <a:lstStyle/>
                    <a:p>
                      <a:pPr algn="l">
                        <a:lnSpc>
                          <a:spcPct val="138889"/>
                        </a:lnSpc>
                        <a:buNone/>
                      </a:pPr>
                      <a:r>
                        <a:rPr lang="en-GB" sz="1800" b="1" i="0">
                          <a:solidFill>
                            <a:schemeClr val="tx1"/>
                          </a:solidFill>
                          <a:effectLst/>
                          <a:latin typeface="Times New Roman"/>
                          <a:cs typeface="Times New Roman"/>
                        </a:rPr>
                        <a:t>RAM</a:t>
                      </a:r>
                      <a:endParaRPr lang="en-GB" sz="18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800" b="0" i="0">
                          <a:solidFill>
                            <a:schemeClr val="tx1"/>
                          </a:solidFill>
                          <a:effectLst/>
                          <a:latin typeface="Times New Roman"/>
                          <a:cs typeface="Times New Roman"/>
                        </a:rPr>
                        <a:t>Minimum 4 GB (8 GB recommended)</a:t>
                      </a:r>
                      <a:endParaRPr lang="en-GB" sz="1800" b="0" i="0" dirty="0">
                        <a:solidFill>
                          <a:schemeClr val="tx1"/>
                        </a:solidFill>
                        <a:effectLst/>
                        <a:latin typeface="Times New Roman"/>
                        <a:cs typeface="Times New Roman"/>
                      </a:endParaRPr>
                    </a:p>
                  </a:txBody>
                  <a:tcPr marL="152400" marT="95250" marB="95250" anchor="ctr">
                    <a:lnL>
                      <a:noFill/>
                    </a:lnL>
                    <a:lnR>
                      <a:noFill/>
                    </a:lnR>
                    <a:lnT>
                      <a:noFill/>
                    </a:lnT>
                    <a:lnB>
                      <a:noFill/>
                    </a:lnB>
                    <a:solidFill>
                      <a:schemeClr val="bg1"/>
                    </a:solidFill>
                  </a:tcPr>
                </a:tc>
                <a:extLst>
                  <a:ext uri="{0D108BD9-81ED-4DB2-BD59-A6C34878D82A}">
                    <a16:rowId xmlns:a16="http://schemas.microsoft.com/office/drawing/2014/main" val="4224962317"/>
                  </a:ext>
                </a:extLst>
              </a:tr>
              <a:tr h="463525">
                <a:tc>
                  <a:txBody>
                    <a:bodyPr/>
                    <a:lstStyle/>
                    <a:p>
                      <a:pPr algn="l">
                        <a:lnSpc>
                          <a:spcPct val="138889"/>
                        </a:lnSpc>
                        <a:buNone/>
                      </a:pPr>
                      <a:r>
                        <a:rPr lang="en-GB" sz="1800" b="1" i="0">
                          <a:solidFill>
                            <a:schemeClr val="tx1"/>
                          </a:solidFill>
                          <a:effectLst/>
                          <a:latin typeface="Times New Roman"/>
                          <a:cs typeface="Times New Roman"/>
                        </a:rPr>
                        <a:t>Storage</a:t>
                      </a:r>
                      <a:endParaRPr lang="en-GB" sz="18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800" b="0" i="0">
                          <a:solidFill>
                            <a:schemeClr val="tx1"/>
                          </a:solidFill>
                          <a:effectLst/>
                          <a:latin typeface="Times New Roman"/>
                          <a:cs typeface="Times New Roman"/>
                        </a:rPr>
                        <a:t>100 MB free disk space</a:t>
                      </a:r>
                      <a:endParaRPr lang="en-GB" sz="1800" b="0" i="0" dirty="0">
                        <a:solidFill>
                          <a:schemeClr val="tx1"/>
                        </a:solidFill>
                        <a:effectLst/>
                        <a:latin typeface="Times New Roman"/>
                        <a:cs typeface="Times New Roman"/>
                      </a:endParaRPr>
                    </a:p>
                  </a:txBody>
                  <a:tcPr marL="152400" marT="95250" marB="95250" anchor="ctr">
                    <a:lnL>
                      <a:noFill/>
                    </a:lnL>
                    <a:lnR>
                      <a:noFill/>
                    </a:lnR>
                    <a:lnT>
                      <a:noFill/>
                    </a:lnT>
                    <a:lnB>
                      <a:noFill/>
                    </a:lnB>
                    <a:solidFill>
                      <a:schemeClr val="bg1"/>
                    </a:solidFill>
                  </a:tcPr>
                </a:tc>
                <a:extLst>
                  <a:ext uri="{0D108BD9-81ED-4DB2-BD59-A6C34878D82A}">
                    <a16:rowId xmlns:a16="http://schemas.microsoft.com/office/drawing/2014/main" val="2885866636"/>
                  </a:ext>
                </a:extLst>
              </a:tr>
              <a:tr h="640106">
                <a:tc>
                  <a:txBody>
                    <a:bodyPr/>
                    <a:lstStyle/>
                    <a:p>
                      <a:pPr algn="l">
                        <a:lnSpc>
                          <a:spcPct val="138889"/>
                        </a:lnSpc>
                        <a:buNone/>
                      </a:pPr>
                      <a:r>
                        <a:rPr lang="en-GB" sz="1800" b="1" i="0">
                          <a:solidFill>
                            <a:schemeClr val="tx1"/>
                          </a:solidFill>
                          <a:effectLst/>
                          <a:latin typeface="Times New Roman"/>
                          <a:cs typeface="Times New Roman"/>
                        </a:rPr>
                        <a:t>OS</a:t>
                      </a:r>
                      <a:endParaRPr lang="en-GB" sz="18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800" b="0" i="0">
                          <a:solidFill>
                            <a:schemeClr val="tx1"/>
                          </a:solidFill>
                          <a:effectLst/>
                          <a:latin typeface="Times New Roman"/>
                          <a:cs typeface="Times New Roman"/>
                        </a:rPr>
                        <a:t>Windows 10/11, Linux (Ubuntu 20.04+), or macOS</a:t>
                      </a:r>
                      <a:endParaRPr lang="en-GB" sz="1800" b="0" i="0" dirty="0">
                        <a:solidFill>
                          <a:schemeClr val="tx1"/>
                        </a:solidFill>
                        <a:effectLst/>
                        <a:latin typeface="Times New Roman"/>
                        <a:cs typeface="Times New Roman"/>
                      </a:endParaRPr>
                    </a:p>
                  </a:txBody>
                  <a:tcPr marL="152400" marT="95250" marB="95250" anchor="ctr">
                    <a:lnL>
                      <a:noFill/>
                    </a:lnL>
                    <a:lnR>
                      <a:noFill/>
                    </a:lnR>
                    <a:lnT>
                      <a:noFill/>
                    </a:lnT>
                    <a:lnB>
                      <a:noFill/>
                    </a:lnB>
                    <a:solidFill>
                      <a:schemeClr val="bg1"/>
                    </a:solidFill>
                  </a:tcPr>
                </a:tc>
                <a:extLst>
                  <a:ext uri="{0D108BD9-81ED-4DB2-BD59-A6C34878D82A}">
                    <a16:rowId xmlns:a16="http://schemas.microsoft.com/office/drawing/2014/main" val="2845206253"/>
                  </a:ext>
                </a:extLst>
              </a:tr>
              <a:tr h="640106">
                <a:tc>
                  <a:txBody>
                    <a:bodyPr/>
                    <a:lstStyle/>
                    <a:p>
                      <a:pPr algn="l">
                        <a:lnSpc>
                          <a:spcPct val="138889"/>
                        </a:lnSpc>
                        <a:buNone/>
                      </a:pPr>
                      <a:r>
                        <a:rPr lang="en-GB" sz="1800" b="1" i="0">
                          <a:solidFill>
                            <a:schemeClr val="tx1"/>
                          </a:solidFill>
                          <a:effectLst/>
                          <a:latin typeface="Times New Roman"/>
                          <a:cs typeface="Times New Roman"/>
                        </a:rPr>
                        <a:t>Language</a:t>
                      </a:r>
                      <a:endParaRPr lang="en-GB" sz="18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800" b="0" i="0">
                          <a:solidFill>
                            <a:schemeClr val="tx1"/>
                          </a:solidFill>
                          <a:effectLst/>
                          <a:latin typeface="Times New Roman"/>
                          <a:cs typeface="Times New Roman"/>
                        </a:rPr>
                        <a:t>C++ (using Standard Template Library - STL)</a:t>
                      </a:r>
                      <a:endParaRPr lang="en-GB" sz="1800" b="0" i="0" dirty="0">
                        <a:solidFill>
                          <a:schemeClr val="tx1"/>
                        </a:solidFill>
                        <a:effectLst/>
                        <a:latin typeface="Times New Roman"/>
                        <a:cs typeface="Times New Roman"/>
                      </a:endParaRPr>
                    </a:p>
                  </a:txBody>
                  <a:tcPr marL="152400" marT="95250" marB="95250" anchor="ctr">
                    <a:lnL>
                      <a:noFill/>
                    </a:lnL>
                    <a:lnR>
                      <a:noFill/>
                    </a:lnR>
                    <a:lnT>
                      <a:noFill/>
                    </a:lnT>
                    <a:lnB>
                      <a:noFill/>
                    </a:lnB>
                    <a:solidFill>
                      <a:schemeClr val="bg1"/>
                    </a:solidFill>
                  </a:tcPr>
                </a:tc>
                <a:extLst>
                  <a:ext uri="{0D108BD9-81ED-4DB2-BD59-A6C34878D82A}">
                    <a16:rowId xmlns:a16="http://schemas.microsoft.com/office/drawing/2014/main" val="124587665"/>
                  </a:ext>
                </a:extLst>
              </a:tr>
              <a:tr h="640106">
                <a:tc>
                  <a:txBody>
                    <a:bodyPr/>
                    <a:lstStyle/>
                    <a:p>
                      <a:pPr algn="l">
                        <a:lnSpc>
                          <a:spcPct val="138889"/>
                        </a:lnSpc>
                        <a:buNone/>
                      </a:pPr>
                      <a:r>
                        <a:rPr lang="en-GB" sz="1800" b="1" i="0">
                          <a:solidFill>
                            <a:schemeClr val="tx1"/>
                          </a:solidFill>
                          <a:effectLst/>
                          <a:latin typeface="Times New Roman"/>
                          <a:cs typeface="Times New Roman"/>
                        </a:rPr>
                        <a:t>IDE / Compiler</a:t>
                      </a:r>
                      <a:endParaRPr lang="en-GB" sz="18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800" b="0" i="0">
                          <a:solidFill>
                            <a:schemeClr val="tx1"/>
                          </a:solidFill>
                          <a:effectLst/>
                          <a:latin typeface="Times New Roman"/>
                          <a:cs typeface="Times New Roman"/>
                        </a:rPr>
                        <a:t>VS Code / Code::Blocks / GCC / JDK (if using Java)</a:t>
                      </a:r>
                      <a:endParaRPr lang="en-GB" sz="1800" b="0" i="0" dirty="0">
                        <a:solidFill>
                          <a:schemeClr val="tx1"/>
                        </a:solidFill>
                        <a:effectLst/>
                        <a:latin typeface="Times New Roman"/>
                        <a:cs typeface="Times New Roman"/>
                      </a:endParaRPr>
                    </a:p>
                  </a:txBody>
                  <a:tcPr marL="152400" marT="95250" marB="95250" anchor="ctr">
                    <a:lnL>
                      <a:noFill/>
                    </a:lnL>
                    <a:lnR>
                      <a:noFill/>
                    </a:lnR>
                    <a:lnT>
                      <a:noFill/>
                    </a:lnT>
                    <a:lnB>
                      <a:noFill/>
                    </a:lnB>
                    <a:solidFill>
                      <a:schemeClr val="bg1"/>
                    </a:solidFill>
                  </a:tcPr>
                </a:tc>
                <a:extLst>
                  <a:ext uri="{0D108BD9-81ED-4DB2-BD59-A6C34878D82A}">
                    <a16:rowId xmlns:a16="http://schemas.microsoft.com/office/drawing/2014/main" val="810166129"/>
                  </a:ext>
                </a:extLst>
              </a:tr>
              <a:tr h="640106">
                <a:tc>
                  <a:txBody>
                    <a:bodyPr/>
                    <a:lstStyle/>
                    <a:p>
                      <a:pPr algn="l">
                        <a:lnSpc>
                          <a:spcPct val="138889"/>
                        </a:lnSpc>
                        <a:buNone/>
                      </a:pPr>
                      <a:r>
                        <a:rPr lang="en-GB" sz="1800" b="1" i="0">
                          <a:solidFill>
                            <a:schemeClr val="tx1"/>
                          </a:solidFill>
                          <a:effectLst/>
                          <a:latin typeface="Times New Roman"/>
                          <a:cs typeface="Times New Roman"/>
                        </a:rPr>
                        <a:t>Libraries</a:t>
                      </a:r>
                      <a:endParaRPr lang="en-GB" sz="1800" b="0" i="0" dirty="0">
                        <a:solidFill>
                          <a:schemeClr val="tx1"/>
                        </a:solidFill>
                        <a:effectLst/>
                        <a:latin typeface="Times New Roman"/>
                        <a:cs typeface="Times New Roman"/>
                      </a:endParaRPr>
                    </a:p>
                  </a:txBody>
                  <a:tcPr marR="152400" marT="95250" marB="95250" anchor="ctr">
                    <a:lnL>
                      <a:noFill/>
                    </a:lnL>
                    <a:lnR>
                      <a:noFill/>
                    </a:lnR>
                    <a:lnT>
                      <a:noFill/>
                    </a:lnT>
                    <a:lnB>
                      <a:noFill/>
                    </a:lnB>
                    <a:solidFill>
                      <a:schemeClr val="bg1"/>
                    </a:solidFill>
                  </a:tcPr>
                </a:tc>
                <a:tc>
                  <a:txBody>
                    <a:bodyPr/>
                    <a:lstStyle/>
                    <a:p>
                      <a:pPr algn="l">
                        <a:lnSpc>
                          <a:spcPct val="138889"/>
                        </a:lnSpc>
                        <a:buNone/>
                      </a:pPr>
                      <a:r>
                        <a:rPr lang="en-GB" sz="1800" b="0" i="0" dirty="0">
                          <a:solidFill>
                            <a:schemeClr val="tx1"/>
                          </a:solidFill>
                          <a:effectLst/>
                          <a:latin typeface="Times New Roman"/>
                          <a:cs typeface="Times New Roman"/>
                        </a:rPr>
                        <a:t>iostream, vector, </a:t>
                      </a:r>
                      <a:r>
                        <a:rPr lang="en-GB" sz="1800" b="0" i="0" dirty="0" err="1">
                          <a:solidFill>
                            <a:schemeClr val="tx1"/>
                          </a:solidFill>
                          <a:effectLst/>
                          <a:latin typeface="Times New Roman"/>
                          <a:cs typeface="Times New Roman"/>
                        </a:rPr>
                        <a:t>iomanip</a:t>
                      </a:r>
                      <a:r>
                        <a:rPr lang="en-GB" sz="1800" b="0" i="0" dirty="0">
                          <a:solidFill>
                            <a:schemeClr val="tx1"/>
                          </a:solidFill>
                          <a:effectLst/>
                          <a:latin typeface="Times New Roman"/>
                          <a:cs typeface="Times New Roman"/>
                        </a:rPr>
                        <a:t> for console output formatting</a:t>
                      </a:r>
                    </a:p>
                  </a:txBody>
                  <a:tcPr marL="152400" marT="95250" marB="95250" anchor="ctr">
                    <a:lnL>
                      <a:noFill/>
                    </a:lnL>
                    <a:lnR>
                      <a:noFill/>
                    </a:lnR>
                    <a:lnT>
                      <a:noFill/>
                    </a:lnT>
                    <a:lnB>
                      <a:noFill/>
                    </a:lnB>
                    <a:solidFill>
                      <a:schemeClr val="bg1"/>
                    </a:solidFill>
                  </a:tcPr>
                </a:tc>
                <a:extLst>
                  <a:ext uri="{0D108BD9-81ED-4DB2-BD59-A6C34878D82A}">
                    <a16:rowId xmlns:a16="http://schemas.microsoft.com/office/drawing/2014/main" val="3344247033"/>
                  </a:ext>
                </a:extLst>
              </a:tr>
            </a:tbl>
          </a:graphicData>
        </a:graphic>
      </p:graphicFrame>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561028B4-17FC-42CC-4C1E-5C9FAA1988E6}"/>
              </a:ext>
            </a:extLst>
          </p:cNvPr>
          <p:cNvSpPr txBox="1"/>
          <p:nvPr/>
        </p:nvSpPr>
        <p:spPr>
          <a:xfrm>
            <a:off x="280147" y="1008530"/>
            <a:ext cx="11631705" cy="483209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200">
                <a:latin typeface="Times New Roman"/>
                <a:ea typeface="Calibri"/>
                <a:cs typeface="Times New Roman"/>
              </a:rPr>
              <a:t>Success: We successfully developed an application that constructs an Optimal BST using search frequencies.</a:t>
            </a:r>
            <a:endParaRPr lang="en-US" sz="2200" dirty="0">
              <a:latin typeface="Times New Roman"/>
              <a:ea typeface="Calibri"/>
              <a:cs typeface="Times New Roman"/>
            </a:endParaRPr>
          </a:p>
          <a:p>
            <a:pPr marL="285750" indent="-285750">
              <a:buFont typeface="Arial"/>
              <a:buChar char="•"/>
            </a:pPr>
            <a:endParaRPr lang="en-US" sz="2200" dirty="0">
              <a:latin typeface="Times New Roman"/>
              <a:ea typeface="Calibri"/>
              <a:cs typeface="Times New Roman"/>
            </a:endParaRPr>
          </a:p>
          <a:p>
            <a:pPr marL="285750" indent="-285750">
              <a:buFont typeface="Arial"/>
              <a:buChar char="•"/>
            </a:pPr>
            <a:r>
              <a:rPr lang="en-US" sz="2200">
                <a:latin typeface="Times New Roman"/>
                <a:ea typeface="Calibri"/>
                <a:cs typeface="Times New Roman"/>
              </a:rPr>
              <a:t>DP Implementation: The Interval Dynamic Programming algorithm efficiently computes the minimal expected cost in O(n³) time, avoiding exponential brute-force calculations.</a:t>
            </a:r>
          </a:p>
          <a:p>
            <a:pPr marL="285750" indent="-285750">
              <a:buFont typeface="Arial"/>
              <a:buChar char="•"/>
            </a:pPr>
            <a:endParaRPr lang="en-US" sz="2200" dirty="0">
              <a:latin typeface="Times New Roman"/>
              <a:ea typeface="Calibri"/>
              <a:cs typeface="Times New Roman"/>
            </a:endParaRPr>
          </a:p>
          <a:p>
            <a:pPr marL="285750" indent="-285750">
              <a:buFont typeface="Arial"/>
              <a:buChar char="•"/>
            </a:pPr>
            <a:r>
              <a:rPr lang="en-US" sz="2200">
                <a:latin typeface="Times New Roman"/>
                <a:ea typeface="Calibri"/>
                <a:cs typeface="Times New Roman"/>
              </a:rPr>
              <a:t>Visualization: The system reconstructs and displays the optimal tree, clearly showing how high-frequency keys are elevated closer to the root.</a:t>
            </a:r>
          </a:p>
          <a:p>
            <a:pPr marL="285750" indent="-285750">
              <a:buFont typeface="Arial"/>
              <a:buChar char="•"/>
            </a:pPr>
            <a:endParaRPr lang="en-US" sz="2200" dirty="0">
              <a:latin typeface="Times New Roman"/>
              <a:ea typeface="Calibri"/>
              <a:cs typeface="Times New Roman"/>
            </a:endParaRPr>
          </a:p>
          <a:p>
            <a:pPr marL="285750" indent="-285750">
              <a:buFont typeface="Arial"/>
              <a:buChar char="•"/>
            </a:pPr>
            <a:r>
              <a:rPr lang="en-US" sz="2200">
                <a:latin typeface="Times New Roman"/>
                <a:ea typeface="Calibri"/>
                <a:cs typeface="Times New Roman"/>
              </a:rPr>
              <a:t>Educational Value: The project demonstrates critical algorithmic concepts—optimal substructure, overlapping subproblems, and interval DP—crucial for solving real-world search optimization.</a:t>
            </a:r>
          </a:p>
          <a:p>
            <a:pPr marL="285750" indent="-285750">
              <a:buFont typeface="Arial"/>
              <a:buChar char="•"/>
            </a:pPr>
            <a:endParaRPr lang="en-US" sz="2200" dirty="0">
              <a:latin typeface="Times New Roman"/>
              <a:ea typeface="Calibri"/>
              <a:cs typeface="Times New Roman"/>
            </a:endParaRPr>
          </a:p>
          <a:p>
            <a:pPr marL="285750" indent="-285750">
              <a:buFont typeface="Arial"/>
              <a:buChar char="•"/>
            </a:pPr>
            <a:r>
              <a:rPr lang="en-US" sz="2200">
                <a:latin typeface="Times New Roman"/>
                <a:ea typeface="+mn-lt"/>
                <a:cs typeface="Times New Roman"/>
              </a:rPr>
              <a:t>Real-world Impact: OBSTs directly improve performance in database indexing, compiler symbol tables, and search engine dictionaries.</a:t>
            </a:r>
            <a:endParaRPr lang="en-GB" sz="2200">
              <a:latin typeface="Times New Roman"/>
              <a:ea typeface="+mn-lt"/>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7" name="TextBox 6">
            <a:extLst>
              <a:ext uri="{FF2B5EF4-FFF2-40B4-BE49-F238E27FC236}">
                <a16:creationId xmlns:a16="http://schemas.microsoft.com/office/drawing/2014/main" id="{AF1C3E6C-EADF-76A8-50C8-74C1E150EBB3}"/>
              </a:ext>
            </a:extLst>
          </p:cNvPr>
          <p:cNvSpPr txBox="1"/>
          <p:nvPr/>
        </p:nvSpPr>
        <p:spPr>
          <a:xfrm>
            <a:off x="717178" y="1098176"/>
            <a:ext cx="10757644" cy="5274184"/>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400">
                <a:latin typeface="Times New Roman"/>
                <a:ea typeface="+mn-lt"/>
                <a:cs typeface="Times New Roman"/>
              </a:rPr>
              <a:t>Dynamic OBST: Extend the algorithm to support dynamic insertions and deletions (currently static).</a:t>
            </a:r>
            <a:endParaRPr lang="en-US" sz="2400" dirty="0">
              <a:latin typeface="Times New Roman"/>
              <a:ea typeface="+mn-lt"/>
              <a:cs typeface="Times New Roman"/>
            </a:endParaRPr>
          </a:p>
          <a:p>
            <a:pPr marL="457200" indent="-457200">
              <a:buAutoNum type="arabicPeriod"/>
            </a:pPr>
            <a:endParaRPr lang="en-US" sz="2400" dirty="0">
              <a:latin typeface="Times New Roman"/>
              <a:cs typeface="Times New Roman"/>
            </a:endParaRPr>
          </a:p>
          <a:p>
            <a:pPr marL="457200" indent="-457200">
              <a:buAutoNum type="arabicPeriod"/>
            </a:pPr>
            <a:r>
              <a:rPr lang="en-US" sz="2400">
                <a:latin typeface="Times New Roman"/>
                <a:ea typeface="+mn-lt"/>
                <a:cs typeface="Times New Roman"/>
              </a:rPr>
              <a:t>Unsuccessful Searches: Add "dummy keys" (failure probabilities) to account for searches that miss the key, using the full Knuth algorithm.</a:t>
            </a:r>
            <a:endParaRPr lang="en-US" sz="2400" dirty="0">
              <a:latin typeface="Times New Roman"/>
              <a:ea typeface="+mn-lt"/>
              <a:cs typeface="Times New Roman"/>
            </a:endParaRPr>
          </a:p>
          <a:p>
            <a:pPr marL="457200" indent="-457200">
              <a:buAutoNum type="arabicPeriod"/>
            </a:pPr>
            <a:endParaRPr lang="en-US" sz="2400" dirty="0">
              <a:latin typeface="Times New Roman"/>
              <a:cs typeface="Times New Roman"/>
            </a:endParaRPr>
          </a:p>
          <a:p>
            <a:pPr marL="457200" indent="-457200">
              <a:buAutoNum type="arabicPeriod"/>
            </a:pPr>
            <a:r>
              <a:rPr lang="en-US" sz="2400">
                <a:latin typeface="Times New Roman"/>
                <a:ea typeface="+mn-lt"/>
                <a:cs typeface="Times New Roman"/>
              </a:rPr>
              <a:t>Knuth's Optimization: Implement the O(n²) optimization using monotonicity of roots to handle datasets larger than 10,000 keys.</a:t>
            </a:r>
            <a:endParaRPr lang="en-US" sz="2400" dirty="0">
              <a:latin typeface="Times New Roman"/>
              <a:ea typeface="+mn-lt"/>
              <a:cs typeface="Times New Roman"/>
            </a:endParaRPr>
          </a:p>
          <a:p>
            <a:pPr marL="457200" indent="-457200">
              <a:buAutoNum type="arabicPeriod"/>
            </a:pPr>
            <a:endParaRPr lang="en-US" sz="2400" dirty="0">
              <a:latin typeface="Times New Roman"/>
              <a:cs typeface="Times New Roman"/>
            </a:endParaRPr>
          </a:p>
          <a:p>
            <a:pPr marL="457200" indent="-457200">
              <a:buAutoNum type="arabicPeriod"/>
            </a:pPr>
            <a:r>
              <a:rPr lang="en-US" sz="2400" dirty="0">
                <a:latin typeface="Times New Roman"/>
                <a:ea typeface="+mn-lt"/>
                <a:cs typeface="Times New Roman"/>
              </a:rPr>
              <a:t>Graphical User Interface (GUI): Move beyond console output; build a visual UI (e.g., using Java Swing or Python </a:t>
            </a:r>
            <a:r>
              <a:rPr lang="en-US" sz="2400" dirty="0" err="1">
                <a:latin typeface="Times New Roman"/>
                <a:ea typeface="+mn-lt"/>
                <a:cs typeface="Times New Roman"/>
              </a:rPr>
              <a:t>Tkinter</a:t>
            </a:r>
            <a:r>
              <a:rPr lang="en-US" sz="2400" dirty="0">
                <a:latin typeface="Times New Roman"/>
                <a:ea typeface="+mn-lt"/>
                <a:cs typeface="Times New Roman"/>
              </a:rPr>
              <a:t>) to draw the BST dynamically.</a:t>
            </a:r>
          </a:p>
          <a:p>
            <a:pPr marL="457200" indent="-457200">
              <a:buAutoNum type="arabicPeriod"/>
            </a:pPr>
            <a:endParaRPr lang="en-US" sz="2400" dirty="0">
              <a:latin typeface="Times New Roman"/>
              <a:cs typeface="Times New Roman"/>
            </a:endParaRPr>
          </a:p>
          <a:p>
            <a:pPr marL="457200" indent="-457200">
              <a:buAutoNum type="arabicPeriod"/>
            </a:pPr>
            <a:r>
              <a:rPr lang="en-US" sz="2400">
                <a:latin typeface="Times New Roman"/>
                <a:ea typeface="+mn-lt"/>
                <a:cs typeface="Times New Roman"/>
              </a:rPr>
              <a:t>Database Integration: Plug this logic into a real database query optimizer for real-time index selection based on query logs.</a:t>
            </a:r>
            <a:endParaRPr lang="en-GB" sz="2400">
              <a:latin typeface="Times New Roman"/>
              <a:ea typeface="+mn-lt"/>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59</Words>
  <Application>Microsoft Office PowerPoint</Application>
  <PresentationFormat>Widescreen</PresentationFormat>
  <Paragraphs>25</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       Data Structures and Algorithms -3 (25CS2103E)  Optimal Binary Search Tree for Efficient Search Optimization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Jashwanth Ram</cp:lastModifiedBy>
  <cp:revision>238</cp:revision>
  <dcterms:created xsi:type="dcterms:W3CDTF">2024-08-29T05:25:00Z</dcterms:created>
  <dcterms:modified xsi:type="dcterms:W3CDTF">2026-08-24T00:26:20Z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